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row to jump straight to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Day-01-AI-Agent-Foundations/slides.pptx" TargetMode="External"/><Relationship Id="rId2" Type="http://schemas.openxmlformats.org/officeDocument/2006/relationships/slide" Target="slide2.xml"/><Relationship Id="rId3" Type="http://schemas.openxmlformats.org/officeDocument/2006/relationships/hyperlink" Target="../Day-03-LangGraph-Core/slides.pptx" TargetMode="Externa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README.md" TargetMode="External"/><Relationship Id="rId2" Type="http://schemas.openxmlformats.org/officeDocument/2006/relationships/hyperlink" Target="https://github.com/ollama/ollama-python" TargetMode="External"/><Relationship Id="rId3" Type="http://schemas.openxmlformats.org/officeDocument/2006/relationships/slide" Target="slide2.xml"/><Relationship Id="rId4" Type="http://schemas.openxmlformats.org/officeDocument/2006/relationships/hyperlink" Target="../Day-03-LangGraph-Core/slides.pptx"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B"/>
        </a:solidFill>
      </p:bgPr>
    </p:bg>
    <p:spTree>
      <p:nvGrpSpPr>
        <p:cNvPr id="1" name=""/>
        <p:cNvGrpSpPr/>
        <p:nvPr/>
      </p:nvGrpSpPr>
      <p:grpSpPr>
        <a:xfrm>
          <a:off x="0" y="0"/>
          <a:ext cx="0" cy="0"/>
          <a:chOff x="0" y="0"/>
          <a:chExt cx="0" cy="0"/>
        </a:xfrm>
      </p:grpSpPr>
      <p:sp>
        <p:nvSpPr>
          <p:cNvPr id="2" name="Shape 0"/>
          <p:cNvSpPr/>
          <p:nvPr/>
        </p:nvSpPr>
        <p:spPr>
          <a:xfrm flipV="1">
            <a:off x="9692640" y="685800"/>
            <a:ext cx="1188720" cy="411480"/>
          </a:xfrm>
          <a:prstGeom prst="line">
            <a:avLst/>
          </a:prstGeom>
          <a:noFill/>
          <a:ln w="15875">
            <a:solidFill>
              <a:srgbClr val="8A939A"/>
            </a:solidFill>
            <a:prstDash val="solid"/>
          </a:ln>
        </p:spPr>
      </p:sp>
      <p:sp>
        <p:nvSpPr>
          <p:cNvPr id="3" name="Shape 1"/>
          <p:cNvSpPr/>
          <p:nvPr/>
        </p:nvSpPr>
        <p:spPr>
          <a:xfrm>
            <a:off x="10881360" y="685800"/>
            <a:ext cx="548640" cy="1051560"/>
          </a:xfrm>
          <a:prstGeom prst="line">
            <a:avLst/>
          </a:prstGeom>
          <a:noFill/>
          <a:ln w="15875">
            <a:solidFill>
              <a:srgbClr val="8A939A"/>
            </a:solidFill>
            <a:prstDash val="solid"/>
          </a:ln>
        </p:spPr>
      </p:sp>
      <p:sp>
        <p:nvSpPr>
          <p:cNvPr id="4" name="Shape 2"/>
          <p:cNvSpPr/>
          <p:nvPr/>
        </p:nvSpPr>
        <p:spPr>
          <a:xfrm>
            <a:off x="9692640" y="1097280"/>
            <a:ext cx="685800" cy="1234440"/>
          </a:xfrm>
          <a:prstGeom prst="line">
            <a:avLst/>
          </a:prstGeom>
          <a:noFill/>
          <a:ln w="15875">
            <a:solidFill>
              <a:srgbClr val="8A939A"/>
            </a:solidFill>
            <a:prstDash val="solid"/>
          </a:ln>
        </p:spPr>
      </p:sp>
      <p:sp>
        <p:nvSpPr>
          <p:cNvPr id="5" name="Shape 3"/>
          <p:cNvSpPr/>
          <p:nvPr/>
        </p:nvSpPr>
        <p:spPr>
          <a:xfrm flipV="1">
            <a:off x="10378440" y="1737360"/>
            <a:ext cx="1051560" cy="594360"/>
          </a:xfrm>
          <a:prstGeom prst="line">
            <a:avLst/>
          </a:prstGeom>
          <a:noFill/>
          <a:ln w="15875">
            <a:solidFill>
              <a:srgbClr val="8A939A"/>
            </a:solidFill>
            <a:prstDash val="solid"/>
          </a:ln>
        </p:spPr>
      </p:sp>
      <p:sp>
        <p:nvSpPr>
          <p:cNvPr id="6" name="Shape 4"/>
          <p:cNvSpPr/>
          <p:nvPr/>
        </p:nvSpPr>
        <p:spPr>
          <a:xfrm>
            <a:off x="10378440" y="2331720"/>
            <a:ext cx="914400" cy="548640"/>
          </a:xfrm>
          <a:prstGeom prst="line">
            <a:avLst/>
          </a:prstGeom>
          <a:noFill/>
          <a:ln w="15875">
            <a:solidFill>
              <a:srgbClr val="8A939A"/>
            </a:solidFill>
            <a:prstDash val="solid"/>
          </a:ln>
        </p:spPr>
      </p:sp>
      <p:sp>
        <p:nvSpPr>
          <p:cNvPr id="7" name="Shape 5"/>
          <p:cNvSpPr/>
          <p:nvPr/>
        </p:nvSpPr>
        <p:spPr>
          <a:xfrm flipH="1">
            <a:off x="11292840" y="1737360"/>
            <a:ext cx="137160" cy="1143000"/>
          </a:xfrm>
          <a:prstGeom prst="line">
            <a:avLst/>
          </a:prstGeom>
          <a:noFill/>
          <a:ln w="15875">
            <a:solidFill>
              <a:srgbClr val="8A939A"/>
            </a:solidFill>
            <a:prstDash val="solid"/>
          </a:ln>
        </p:spPr>
      </p:sp>
      <p:sp>
        <p:nvSpPr>
          <p:cNvPr id="8" name="Shape 6"/>
          <p:cNvSpPr/>
          <p:nvPr/>
        </p:nvSpPr>
        <p:spPr>
          <a:xfrm>
            <a:off x="9308592" y="713232"/>
            <a:ext cx="768096" cy="768096"/>
          </a:xfrm>
          <a:prstGeom prst="ellipse">
            <a:avLst/>
          </a:prstGeom>
          <a:solidFill>
            <a:srgbClr val="3E5064"/>
          </a:solidFill>
          <a:ln/>
        </p:spPr>
      </p:sp>
      <p:sp>
        <p:nvSpPr>
          <p:cNvPr id="9" name="Shape 7"/>
          <p:cNvSpPr/>
          <p:nvPr/>
        </p:nvSpPr>
        <p:spPr>
          <a:xfrm>
            <a:off x="10625328" y="429768"/>
            <a:ext cx="512064" cy="512064"/>
          </a:xfrm>
          <a:prstGeom prst="ellipse">
            <a:avLst/>
          </a:prstGeom>
          <a:solidFill>
            <a:srgbClr val="D9932B"/>
          </a:solidFill>
          <a:ln/>
        </p:spPr>
      </p:sp>
      <p:sp>
        <p:nvSpPr>
          <p:cNvPr id="10" name="Shape 8"/>
          <p:cNvSpPr/>
          <p:nvPr/>
        </p:nvSpPr>
        <p:spPr>
          <a:xfrm>
            <a:off x="11009376" y="1316736"/>
            <a:ext cx="841248" cy="841248"/>
          </a:xfrm>
          <a:prstGeom prst="ellipse">
            <a:avLst/>
          </a:prstGeom>
          <a:solidFill>
            <a:srgbClr val="3E5064"/>
          </a:solidFill>
          <a:ln/>
        </p:spPr>
      </p:sp>
      <p:sp>
        <p:nvSpPr>
          <p:cNvPr id="11" name="Shape 9"/>
          <p:cNvSpPr/>
          <p:nvPr/>
        </p:nvSpPr>
        <p:spPr>
          <a:xfrm>
            <a:off x="10076688" y="2029968"/>
            <a:ext cx="603504" cy="603504"/>
          </a:xfrm>
          <a:prstGeom prst="ellipse">
            <a:avLst/>
          </a:prstGeom>
          <a:solidFill>
            <a:srgbClr val="57646F"/>
          </a:solidFill>
          <a:ln/>
        </p:spPr>
      </p:sp>
      <p:sp>
        <p:nvSpPr>
          <p:cNvPr id="12" name="Shape 10"/>
          <p:cNvSpPr/>
          <p:nvPr/>
        </p:nvSpPr>
        <p:spPr>
          <a:xfrm>
            <a:off x="11055096" y="2642616"/>
            <a:ext cx="475488" cy="475488"/>
          </a:xfrm>
          <a:prstGeom prst="ellipse">
            <a:avLst/>
          </a:prstGeom>
          <a:solidFill>
            <a:srgbClr val="D9932B"/>
          </a:solidFill>
          <a:ln/>
        </p:spPr>
      </p:sp>
      <p:sp>
        <p:nvSpPr>
          <p:cNvPr id="13" name="Text 11"/>
          <p:cNvSpPr txBox="1"/>
          <p:nvPr/>
        </p:nvSpPr>
        <p:spPr>
          <a:xfrm>
            <a:off x="640080" y="502920"/>
            <a:ext cx="5486400" cy="457200"/>
          </a:xfrm>
          <a:prstGeom prst="rect">
            <a:avLst/>
          </a:prstGeom>
          <a:noFill/>
          <a:ln/>
        </p:spPr>
        <p:txBody>
          <a:bodyPr wrap="square" lIns="0" tIns="0" rIns="0" bIns="0" rtlCol="0" anchor="ctr"/>
          <a:lstStyle/>
          <a:p>
            <a:pPr indent="0" marL="0">
              <a:buNone/>
            </a:pPr>
            <a:r>
              <a:rPr lang="en-US" sz="1600" b="1" spc="200" kern="0" dirty="0">
                <a:solidFill>
                  <a:srgbClr val="D9932B"/>
                </a:solidFill>
                <a:latin typeface="Consolas" pitchFamily="34" charset="0"/>
                <a:ea typeface="Consolas" pitchFamily="34" charset="-122"/>
                <a:cs typeface="Consolas" pitchFamily="34" charset="-120"/>
              </a:rPr>
              <a:t>DAY 02</a:t>
            </a:r>
            <a:endParaRPr lang="en-US" sz="1600" dirty="0"/>
          </a:p>
        </p:txBody>
      </p:sp>
      <p:sp>
        <p:nvSpPr>
          <p:cNvPr id="14" name="Text 12"/>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200" spc="150" kern="0" dirty="0">
                <a:solidFill>
                  <a:srgbClr val="8A939A"/>
                </a:solidFill>
                <a:latin typeface="Consolas" pitchFamily="34" charset="0"/>
                <a:ea typeface="Consolas" pitchFamily="34" charset="-122"/>
                <a:cs typeface="Consolas" pitchFamily="34" charset="-120"/>
              </a:rPr>
              <a:t>DEVELOP</a:t>
            </a:r>
            <a:endParaRPr lang="en-US" sz="1200" dirty="0"/>
          </a:p>
        </p:txBody>
      </p:sp>
      <p:sp>
        <p:nvSpPr>
          <p:cNvPr id="15" name="Text 13"/>
          <p:cNvSpPr txBox="1"/>
          <p:nvPr/>
        </p:nvSpPr>
        <p:spPr>
          <a:xfrm>
            <a:off x="594360" y="2606040"/>
            <a:ext cx="8778240" cy="1737360"/>
          </a:xfrm>
          <a:prstGeom prst="rect">
            <a:avLst/>
          </a:prstGeom>
          <a:noFill/>
          <a:ln/>
        </p:spPr>
        <p:txBody>
          <a:bodyPr wrap="square" lIns="0" tIns="0" rIns="0" bIns="0" rtlCol="0" anchor="b"/>
          <a:lstStyle/>
          <a:p>
            <a:pPr indent="0" marL="0">
              <a:buNone/>
            </a:pPr>
            <a:r>
              <a:rPr lang="en-US" sz="4000" b="1" dirty="0">
                <a:solidFill>
                  <a:srgbClr val="FFFFFF"/>
                </a:solidFill>
                <a:latin typeface="Consolas" pitchFamily="34" charset="0"/>
                <a:ea typeface="Consolas" pitchFamily="34" charset="-122"/>
                <a:cs typeface="Consolas" pitchFamily="34" charset="-120"/>
              </a:rPr>
              <a:t>Development Foundation</a:t>
            </a:r>
            <a:endParaRPr lang="en-US" sz="4000" dirty="0"/>
          </a:p>
        </p:txBody>
      </p:sp>
      <p:sp>
        <p:nvSpPr>
          <p:cNvPr id="16" name="Text 14"/>
          <p:cNvSpPr txBox="1"/>
          <p:nvPr/>
        </p:nvSpPr>
        <p:spPr>
          <a:xfrm>
            <a:off x="640080" y="4434840"/>
            <a:ext cx="7863840" cy="822960"/>
          </a:xfrm>
          <a:prstGeom prst="rect">
            <a:avLst/>
          </a:prstGeom>
          <a:noFill/>
          <a:ln/>
        </p:spPr>
        <p:txBody>
          <a:bodyPr wrap="square" lIns="0" tIns="0" rIns="0" bIns="0" rtlCol="0" anchor="ctr"/>
          <a:lstStyle/>
          <a:p>
            <a:pPr indent="0" marL="0">
              <a:buNone/>
            </a:pPr>
            <a:r>
              <a:rPr lang="en-US" sz="1500" i="1" dirty="0">
                <a:solidFill>
                  <a:srgbClr val="8A939A"/>
                </a:solidFill>
                <a:latin typeface="Calibri" pitchFamily="34" charset="0"/>
                <a:ea typeface="Calibri" pitchFamily="34" charset="-122"/>
                <a:cs typeface="Calibri" pitchFamily="34" charset="-120"/>
              </a:rPr>
              <a:t>Your first live call to the course model: one plain ollama.chat call, no framework.</a:t>
            </a:r>
            <a:endParaRPr lang="en-US" sz="1500" dirty="0"/>
          </a:p>
        </p:txBody>
      </p:sp>
      <p:sp>
        <p:nvSpPr>
          <p:cNvPr id="17" name="Text 15">
            <a:hlinkClick r:id="rId1" tooltip=""/>
          </p:cNvPr>
          <p:cNvSpPr txBox="1"/>
          <p:nvPr/>
        </p:nvSpPr>
        <p:spPr>
          <a:xfrm>
            <a:off x="640080" y="5989320"/>
            <a:ext cx="3840480" cy="36576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Day 1</a:t>
            </a:r>
            <a:endParaRPr lang="en-US" sz="1100" dirty="0"/>
          </a:p>
        </p:txBody>
      </p:sp>
      <p:sp>
        <p:nvSpPr>
          <p:cNvPr id="18" name="Text 16">
            <a:hlinkClick r:id="rId2" tooltip="" action="ppaction://hlinksldjump"/>
          </p:cNvPr>
          <p:cNvSpPr txBox="1"/>
          <p:nvPr/>
        </p:nvSpPr>
        <p:spPr>
          <a:xfrm>
            <a:off x="5029200" y="5989320"/>
            <a:ext cx="2103120" cy="365760"/>
          </a:xfrm>
          <a:prstGeom prst="rect">
            <a:avLst/>
          </a:prstGeom>
          <a:noFill/>
          <a:ln/>
        </p:spPr>
        <p:txBody>
          <a:bodyPr wrap="square" lIns="0" tIns="0" rIns="0" bIns="0" rtlCol="0" anchor="ctr"/>
          <a:lstStyle/>
          <a:p>
            <a:pPr algn="ctr" indent="0" marL="0">
              <a:buNone/>
            </a:pPr>
            <a:r>
              <a:rPr lang="en-US" sz="1100" u="sng" dirty="0">
                <a:solidFill>
                  <a:srgbClr val="D9932B"/>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19" name="Text 17">
            <a:hlinkClick r:id="rId3" tooltip=""/>
          </p:cNvPr>
          <p:cNvSpPr txBox="1"/>
          <p:nvPr/>
        </p:nvSpPr>
        <p:spPr>
          <a:xfrm>
            <a:off x="7680960" y="5989320"/>
            <a:ext cx="3840480" cy="365760"/>
          </a:xfrm>
          <a:prstGeom prst="rect">
            <a:avLst/>
          </a:prstGeom>
          <a:noFill/>
          <a:ln/>
        </p:spPr>
        <p:txBody>
          <a:bodyPr wrap="square" lIns="0" tIns="0" rIns="0" bIns="0" rtlCol="0" anchor="ctr"/>
          <a:lstStyle/>
          <a:p>
            <a:pPr algn="r" indent="0" marL="0">
              <a:buNone/>
            </a:pPr>
            <a:r>
              <a:rPr lang="en-US" sz="1100" u="sng" dirty="0">
                <a:solidFill>
                  <a:srgbClr val="8A939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Day 3  →</a:t>
            </a:r>
            <a:endParaRPr lang="en-US" sz="1100" dirty="0"/>
          </a:p>
        </p:txBody>
      </p:sp>
      <p:sp>
        <p:nvSpPr>
          <p:cNvPr id="20" name="Text 18"/>
          <p:cNvSpPr txBox="1"/>
          <p:nvPr/>
        </p:nvSpPr>
        <p:spPr>
          <a:xfrm>
            <a:off x="640080" y="6419088"/>
            <a:ext cx="7315200" cy="320040"/>
          </a:xfrm>
          <a:prstGeom prst="rect">
            <a:avLst/>
          </a:prstGeom>
          <a:noFill/>
          <a:ln/>
        </p:spPr>
        <p:txBody>
          <a:bodyPr wrap="square" lIns="0" tIns="0" rIns="0" bIns="0" rtlCol="0" anchor="ctr"/>
          <a:lstStyle/>
          <a:p>
            <a:pPr indent="0" marL="0">
              <a:buNone/>
            </a:pPr>
            <a:r>
              <a:rPr lang="en-US" sz="1050" dirty="0">
                <a:solidFill>
                  <a:srgbClr val="8A939A"/>
                </a:solidFill>
                <a:latin typeface="Consolas" pitchFamily="34" charset="0"/>
                <a:ea typeface="Consolas" pitchFamily="34" charset="-122"/>
                <a:cs typeface="Consolas" pitchFamily="34" charset="-120"/>
              </a:rPr>
              <a:t>uv run python Day-02-Development-Foundation\example.py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2800" b="1" dirty="0">
                <a:solidFill>
                  <a:srgbClr val="1A1E22"/>
                </a:solidFill>
                <a:latin typeface="Consolas" pitchFamily="34" charset="0"/>
                <a:ea typeface="Consolas" pitchFamily="34" charset="-122"/>
                <a:cs typeface="Consolas" pitchFamily="34" charset="-120"/>
              </a:rPr>
              <a:t>What's Inside Today</a:t>
            </a:r>
            <a:endParaRPr lang="en-US" sz="28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Development Foundation</a:t>
            </a:r>
            <a:endParaRPr lang="en-US" sz="1400" dirty="0"/>
          </a:p>
        </p:txBody>
      </p:sp>
      <p:sp>
        <p:nvSpPr>
          <p:cNvPr id="4" name="Shape 2"/>
          <p:cNvSpPr/>
          <p:nvPr/>
        </p:nvSpPr>
        <p:spPr>
          <a:xfrm>
            <a:off x="640080" y="1783080"/>
            <a:ext cx="5120640" cy="685800"/>
          </a:xfrm>
          <a:prstGeom prst="roundRect">
            <a:avLst>
              <a:gd name="adj" fmla="val 8000"/>
            </a:avLst>
          </a:prstGeom>
          <a:solidFill>
            <a:srgbClr val="F5F7F3"/>
          </a:solidFill>
          <a:ln w="12700">
            <a:solidFill>
              <a:srgbClr val="D7DCD1"/>
            </a:solidFill>
            <a:prstDash val="solid"/>
          </a:ln>
        </p:spPr>
      </p:sp>
      <p:sp>
        <p:nvSpPr>
          <p:cNvPr id="5" name="Text 3"/>
          <p:cNvSpPr txBox="1"/>
          <p:nvPr/>
        </p:nvSpPr>
        <p:spPr>
          <a:xfrm>
            <a:off x="80467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01</a:t>
            </a:r>
            <a:endParaRPr lang="en-US" sz="1600" dirty="0"/>
          </a:p>
        </p:txBody>
      </p:sp>
      <p:sp>
        <p:nvSpPr>
          <p:cNvPr id="6" name="Text 4">
            <a:hlinkClick r:id="rId1" tooltip="" action="ppaction://hlinksldjump"/>
          </p:cNvPr>
          <p:cNvSpPr txBox="1"/>
          <p:nvPr/>
        </p:nvSpPr>
        <p:spPr>
          <a:xfrm>
            <a:off x="141732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Why This Matters</a:t>
            </a:r>
            <a:endParaRPr lang="en-US" sz="1350" dirty="0"/>
          </a:p>
        </p:txBody>
      </p:sp>
      <p:sp>
        <p:nvSpPr>
          <p:cNvPr id="7" name="Shape 5"/>
          <p:cNvSpPr/>
          <p:nvPr/>
        </p:nvSpPr>
        <p:spPr>
          <a:xfrm>
            <a:off x="6217920" y="1783080"/>
            <a:ext cx="5120640" cy="685800"/>
          </a:xfrm>
          <a:prstGeom prst="roundRect">
            <a:avLst>
              <a:gd name="adj" fmla="val 8000"/>
            </a:avLst>
          </a:prstGeom>
          <a:solidFill>
            <a:srgbClr val="F5F7F3"/>
          </a:solidFill>
          <a:ln w="12700">
            <a:solidFill>
              <a:srgbClr val="D7DCD1"/>
            </a:solidFill>
            <a:prstDash val="solid"/>
          </a:ln>
        </p:spPr>
      </p:sp>
      <p:sp>
        <p:nvSpPr>
          <p:cNvPr id="8" name="Text 6"/>
          <p:cNvSpPr txBox="1"/>
          <p:nvPr/>
        </p:nvSpPr>
        <p:spPr>
          <a:xfrm>
            <a:off x="638251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02</a:t>
            </a:r>
            <a:endParaRPr lang="en-US" sz="1600" dirty="0"/>
          </a:p>
        </p:txBody>
      </p:sp>
      <p:sp>
        <p:nvSpPr>
          <p:cNvPr id="9" name="Text 7">
            <a:hlinkClick r:id="rId2" tooltip="" action="ppaction://hlinksldjump"/>
          </p:cNvPr>
          <p:cNvSpPr txBox="1"/>
          <p:nvPr/>
        </p:nvSpPr>
        <p:spPr>
          <a:xfrm>
            <a:off x="699516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Key Concepts</a:t>
            </a:r>
            <a:endParaRPr lang="en-US" sz="1350" dirty="0"/>
          </a:p>
        </p:txBody>
      </p:sp>
      <p:sp>
        <p:nvSpPr>
          <p:cNvPr id="10" name="Shape 8"/>
          <p:cNvSpPr/>
          <p:nvPr/>
        </p:nvSpPr>
        <p:spPr>
          <a:xfrm>
            <a:off x="640080" y="2651760"/>
            <a:ext cx="5120640" cy="685800"/>
          </a:xfrm>
          <a:prstGeom prst="roundRect">
            <a:avLst>
              <a:gd name="adj" fmla="val 8000"/>
            </a:avLst>
          </a:prstGeom>
          <a:solidFill>
            <a:srgbClr val="F5F7F3"/>
          </a:solidFill>
          <a:ln w="12700">
            <a:solidFill>
              <a:srgbClr val="D7DCD1"/>
            </a:solidFill>
            <a:prstDash val="solid"/>
          </a:ln>
        </p:spPr>
      </p:sp>
      <p:sp>
        <p:nvSpPr>
          <p:cNvPr id="11" name="Text 9"/>
          <p:cNvSpPr txBox="1"/>
          <p:nvPr/>
        </p:nvSpPr>
        <p:spPr>
          <a:xfrm>
            <a:off x="80467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03</a:t>
            </a:r>
            <a:endParaRPr lang="en-US" sz="1600" dirty="0"/>
          </a:p>
        </p:txBody>
      </p:sp>
      <p:sp>
        <p:nvSpPr>
          <p:cNvPr id="12" name="Text 10">
            <a:hlinkClick r:id="rId3" tooltip="" action="ppaction://hlinksldjump"/>
          </p:cNvPr>
          <p:cNvSpPr txBox="1"/>
          <p:nvPr/>
        </p:nvSpPr>
        <p:spPr>
          <a:xfrm>
            <a:off x="141732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How It's Built</a:t>
            </a:r>
            <a:endParaRPr lang="en-US" sz="1350" dirty="0"/>
          </a:p>
        </p:txBody>
      </p:sp>
      <p:sp>
        <p:nvSpPr>
          <p:cNvPr id="13" name="Shape 11"/>
          <p:cNvSpPr/>
          <p:nvPr/>
        </p:nvSpPr>
        <p:spPr>
          <a:xfrm>
            <a:off x="6217920" y="2651760"/>
            <a:ext cx="5120640" cy="685800"/>
          </a:xfrm>
          <a:prstGeom prst="roundRect">
            <a:avLst>
              <a:gd name="adj" fmla="val 8000"/>
            </a:avLst>
          </a:prstGeom>
          <a:solidFill>
            <a:srgbClr val="F5F7F3"/>
          </a:solidFill>
          <a:ln w="12700">
            <a:solidFill>
              <a:srgbClr val="D7DCD1"/>
            </a:solidFill>
            <a:prstDash val="solid"/>
          </a:ln>
        </p:spPr>
      </p:sp>
      <p:sp>
        <p:nvSpPr>
          <p:cNvPr id="14" name="Text 12"/>
          <p:cNvSpPr txBox="1"/>
          <p:nvPr/>
        </p:nvSpPr>
        <p:spPr>
          <a:xfrm>
            <a:off x="638251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04</a:t>
            </a:r>
            <a:endParaRPr lang="en-US" sz="1600" dirty="0"/>
          </a:p>
        </p:txBody>
      </p:sp>
      <p:sp>
        <p:nvSpPr>
          <p:cNvPr id="15" name="Text 13">
            <a:hlinkClick r:id="rId4" tooltip="" action="ppaction://hlinksldjump"/>
          </p:cNvPr>
          <p:cNvSpPr txBox="1"/>
          <p:nvPr/>
        </p:nvSpPr>
        <p:spPr>
          <a:xfrm>
            <a:off x="699516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The Code</a:t>
            </a:r>
            <a:endParaRPr lang="en-US" sz="1350" dirty="0"/>
          </a:p>
        </p:txBody>
      </p:sp>
      <p:sp>
        <p:nvSpPr>
          <p:cNvPr id="16" name="Shape 14"/>
          <p:cNvSpPr/>
          <p:nvPr/>
        </p:nvSpPr>
        <p:spPr>
          <a:xfrm>
            <a:off x="640080" y="3520440"/>
            <a:ext cx="5120640" cy="685800"/>
          </a:xfrm>
          <a:prstGeom prst="roundRect">
            <a:avLst>
              <a:gd name="adj" fmla="val 8000"/>
            </a:avLst>
          </a:prstGeom>
          <a:solidFill>
            <a:srgbClr val="F5F7F3"/>
          </a:solidFill>
          <a:ln w="12700">
            <a:solidFill>
              <a:srgbClr val="D7DCD1"/>
            </a:solidFill>
            <a:prstDash val="solid"/>
          </a:ln>
        </p:spPr>
      </p:sp>
      <p:sp>
        <p:nvSpPr>
          <p:cNvPr id="17" name="Text 15"/>
          <p:cNvSpPr txBox="1"/>
          <p:nvPr/>
        </p:nvSpPr>
        <p:spPr>
          <a:xfrm>
            <a:off x="80467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05</a:t>
            </a:r>
            <a:endParaRPr lang="en-US" sz="1600" dirty="0"/>
          </a:p>
        </p:txBody>
      </p:sp>
      <p:sp>
        <p:nvSpPr>
          <p:cNvPr id="18" name="Text 16">
            <a:hlinkClick r:id="rId5" tooltip="" action="ppaction://hlinksldjump"/>
          </p:cNvPr>
          <p:cNvSpPr txBox="1"/>
          <p:nvPr/>
        </p:nvSpPr>
        <p:spPr>
          <a:xfrm>
            <a:off x="141732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Hands-On Lab</a:t>
            </a:r>
            <a:endParaRPr lang="en-US" sz="1350" dirty="0"/>
          </a:p>
        </p:txBody>
      </p:sp>
      <p:sp>
        <p:nvSpPr>
          <p:cNvPr id="19" name="Shape 17"/>
          <p:cNvSpPr/>
          <p:nvPr/>
        </p:nvSpPr>
        <p:spPr>
          <a:xfrm>
            <a:off x="6217920" y="3520440"/>
            <a:ext cx="5120640" cy="685800"/>
          </a:xfrm>
          <a:prstGeom prst="roundRect">
            <a:avLst>
              <a:gd name="adj" fmla="val 8000"/>
            </a:avLst>
          </a:prstGeom>
          <a:solidFill>
            <a:srgbClr val="F5F7F3"/>
          </a:solidFill>
          <a:ln w="12700">
            <a:solidFill>
              <a:srgbClr val="D7DCD1"/>
            </a:solidFill>
            <a:prstDash val="solid"/>
          </a:ln>
        </p:spPr>
      </p:sp>
      <p:sp>
        <p:nvSpPr>
          <p:cNvPr id="20" name="Text 18"/>
          <p:cNvSpPr txBox="1"/>
          <p:nvPr/>
        </p:nvSpPr>
        <p:spPr>
          <a:xfrm>
            <a:off x="638251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06</a:t>
            </a:r>
            <a:endParaRPr lang="en-US" sz="1600" dirty="0"/>
          </a:p>
        </p:txBody>
      </p:sp>
      <p:sp>
        <p:nvSpPr>
          <p:cNvPr id="21" name="Text 19">
            <a:hlinkClick r:id="rId6" tooltip="" action="ppaction://hlinksldjump"/>
          </p:cNvPr>
          <p:cNvSpPr txBox="1"/>
          <p:nvPr/>
        </p:nvSpPr>
        <p:spPr>
          <a:xfrm>
            <a:off x="699516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Assignment</a:t>
            </a:r>
            <a:endParaRPr lang="en-US" sz="1350" dirty="0"/>
          </a:p>
        </p:txBody>
      </p:sp>
      <p:sp>
        <p:nvSpPr>
          <p:cNvPr id="22" name="Shape 20"/>
          <p:cNvSpPr/>
          <p:nvPr/>
        </p:nvSpPr>
        <p:spPr>
          <a:xfrm>
            <a:off x="640080" y="4389120"/>
            <a:ext cx="5120640" cy="685800"/>
          </a:xfrm>
          <a:prstGeom prst="roundRect">
            <a:avLst>
              <a:gd name="adj" fmla="val 8000"/>
            </a:avLst>
          </a:prstGeom>
          <a:solidFill>
            <a:srgbClr val="F5F7F3"/>
          </a:solidFill>
          <a:ln w="12700">
            <a:solidFill>
              <a:srgbClr val="D7DCD1"/>
            </a:solidFill>
            <a:prstDash val="solid"/>
          </a:ln>
        </p:spPr>
      </p:sp>
      <p:sp>
        <p:nvSpPr>
          <p:cNvPr id="23" name="Text 21"/>
          <p:cNvSpPr txBox="1"/>
          <p:nvPr/>
        </p:nvSpPr>
        <p:spPr>
          <a:xfrm>
            <a:off x="804672" y="438912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07</a:t>
            </a:r>
            <a:endParaRPr lang="en-US" sz="1600" dirty="0"/>
          </a:p>
        </p:txBody>
      </p:sp>
      <p:sp>
        <p:nvSpPr>
          <p:cNvPr id="24" name="Text 22">
            <a:hlinkClick r:id="rId7" tooltip="" action="ppaction://hlinksldjump"/>
          </p:cNvPr>
          <p:cNvSpPr txBox="1"/>
          <p:nvPr/>
        </p:nvSpPr>
        <p:spPr>
          <a:xfrm>
            <a:off x="1417320" y="438912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Wrap-Up</a:t>
            </a:r>
            <a:endParaRPr lang="en-US" sz="1350" dirty="0"/>
          </a:p>
        </p:txBody>
      </p:sp>
      <p:sp>
        <p:nvSpPr>
          <p:cNvPr id="25" name="Text 2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26" name="Text 2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932B"/>
          </a:solidFill>
          <a:ln/>
        </p:spPr>
      </p:sp>
      <p:sp>
        <p:nvSpPr>
          <p:cNvPr id="3" name="Text 1"/>
          <p:cNvSpPr txBox="1"/>
          <p:nvPr/>
        </p:nvSpPr>
        <p:spPr>
          <a:xfrm>
            <a:off x="822960" y="548640"/>
            <a:ext cx="9144000" cy="54864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Why This Matters</a:t>
            </a:r>
            <a:endParaRPr lang="en-US" sz="2400" dirty="0"/>
          </a:p>
        </p:txBody>
      </p:sp>
      <p:sp>
        <p:nvSpPr>
          <p:cNvPr id="4" name="Shape 2"/>
          <p:cNvSpPr/>
          <p:nvPr/>
        </p:nvSpPr>
        <p:spPr>
          <a:xfrm>
            <a:off x="822960" y="1371600"/>
            <a:ext cx="10424160" cy="4389120"/>
          </a:xfrm>
          <a:prstGeom prst="roundRect">
            <a:avLst>
              <a:gd name="adj" fmla="val 1667"/>
            </a:avLst>
          </a:prstGeom>
          <a:solidFill>
            <a:srgbClr val="FFFFFF"/>
          </a:solidFill>
          <a:ln w="12700">
            <a:solidFill>
              <a:srgbClr val="D7DCD1"/>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1188720" y="1691640"/>
            <a:ext cx="9692640" cy="3749040"/>
          </a:xfrm>
          <a:prstGeom prst="rect">
            <a:avLst/>
          </a:prstGeom>
          <a:noFill/>
          <a:ln/>
        </p:spPr>
        <p:txBody>
          <a:bodyPr wrap="square" lIns="0" tIns="0" rIns="0" bIns="0" rtlCol="0" anchor="t"/>
          <a:lstStyle/>
          <a:p>
            <a:pPr indent="0" marL="0">
              <a:lnSpc>
                <a:spcPct val="125000"/>
              </a:lnSpc>
              <a:buNone/>
            </a:pPr>
            <a:r>
              <a:rPr lang="en-US" sz="1650" dirty="0">
                <a:solidFill>
                  <a:srgbClr val="1A1E22"/>
                </a:solidFill>
                <a:latin typeface="Calibri" pitchFamily="34" charset="0"/>
                <a:ea typeface="Calibri" pitchFamily="34" charset="-122"/>
                <a:cs typeface="Calibri" pitchFamily="34" charset="-120"/>
              </a:rPr>
              <a:t>Day 1 was about deciding when to use a model at all. Today you make your first live call to one: you type an IT request, and the app comes back with a category — wired through one plain ollama.chat call. No framework, no graph, no branching, no tools, no memory, no agent loop yet. Getting comfortable with the plumbing now means later graphs only ever add one new idea at a time.</a:t>
            </a:r>
            <a:endParaRPr lang="en-US" sz="165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1 of 2</a:t>
            </a:r>
            <a:endParaRPr lang="en-US" sz="2600" dirty="0"/>
          </a:p>
        </p:txBody>
      </p:sp>
      <p:sp>
        <p:nvSpPr>
          <p:cNvPr id="3" name="Shape 1"/>
          <p:cNvSpPr/>
          <p:nvPr/>
        </p:nvSpPr>
        <p:spPr>
          <a:xfrm>
            <a:off x="640080" y="1435608"/>
            <a:ext cx="457200" cy="457200"/>
          </a:xfrm>
          <a:prstGeom prst="ellipse">
            <a:avLst/>
          </a:prstGeom>
          <a:solidFill>
            <a:srgbClr val="D9932B"/>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1</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course software stack</a:t>
            </a:r>
            <a:endParaRPr lang="en-US" sz="1550" dirty="0"/>
          </a:p>
        </p:txBody>
      </p:sp>
      <p:sp>
        <p:nvSpPr>
          <p:cNvPr id="6" name="Text 4"/>
          <p:cNvSpPr txBox="1"/>
          <p:nvPr/>
        </p:nvSpPr>
        <p:spPr>
          <a:xfrm>
            <a:off x="1325880" y="170992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VS Code edits, Python runs, uv manages the isolated environment (uv sync / uv run — never activate manually), Ollama connects to the model, Git records changes. When something breaks, ask which layer owns the failure and check that layer first.</a:t>
            </a:r>
            <a:endParaRPr lang="en-US" sz="1300" dirty="0"/>
          </a:p>
        </p:txBody>
      </p:sp>
      <p:sp>
        <p:nvSpPr>
          <p:cNvPr id="7" name="Shape 5"/>
          <p:cNvSpPr/>
          <p:nvPr/>
        </p:nvSpPr>
        <p:spPr>
          <a:xfrm>
            <a:off x="640080" y="2932176"/>
            <a:ext cx="10515600" cy="914"/>
          </a:xfrm>
          <a:prstGeom prst="line">
            <a:avLst/>
          </a:prstGeom>
          <a:noFill/>
          <a:ln w="12700">
            <a:solidFill>
              <a:srgbClr val="D7DCD1"/>
            </a:solidFill>
            <a:prstDash val="solid"/>
          </a:ln>
        </p:spPr>
      </p:sp>
      <p:sp>
        <p:nvSpPr>
          <p:cNvPr id="8" name="Shape 6"/>
          <p:cNvSpPr/>
          <p:nvPr/>
        </p:nvSpPr>
        <p:spPr>
          <a:xfrm>
            <a:off x="640080" y="3096768"/>
            <a:ext cx="457200" cy="457200"/>
          </a:xfrm>
          <a:prstGeom prst="ellipse">
            <a:avLst/>
          </a:prstGeom>
          <a:solidFill>
            <a:srgbClr val="3E5064"/>
          </a:solidFill>
          <a:ln/>
        </p:spPr>
      </p:sp>
      <p:sp>
        <p:nvSpPr>
          <p:cNvPr id="9" name="Text 7"/>
          <p:cNvSpPr txBox="1"/>
          <p:nvPr/>
        </p:nvSpPr>
        <p:spPr>
          <a:xfrm>
            <a:off x="640080" y="309676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2</a:t>
            </a:r>
            <a:endParaRPr lang="en-US" sz="1500" dirty="0"/>
          </a:p>
        </p:txBody>
      </p:sp>
      <p:sp>
        <p:nvSpPr>
          <p:cNvPr id="10" name="Text 8"/>
          <p:cNvSpPr txBox="1"/>
          <p:nvPr/>
        </p:nvSpPr>
        <p:spPr>
          <a:xfrm>
            <a:off x="1325880" y="298704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Reaching the model</a:t>
            </a:r>
            <a:endParaRPr lang="en-US" sz="1550" dirty="0"/>
          </a:p>
        </p:txBody>
      </p:sp>
      <p:sp>
        <p:nvSpPr>
          <p:cNvPr id="11" name="Text 9"/>
          <p:cNvSpPr txBox="1"/>
          <p:nvPr/>
        </p:nvSpPr>
        <p:spPr>
          <a:xfrm>
            <a:off x="1325880" y="337108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Your code talks to a local Ollama service, which reaches the cloud-hosted gpt-oss:120b-cloud. Debug in order: uv version, uv sync, Ollama sign-in, model reachability, then your own code.</a:t>
            </a:r>
            <a:endParaRPr lang="en-US" sz="1300" dirty="0"/>
          </a:p>
        </p:txBody>
      </p:sp>
      <p:sp>
        <p:nvSpPr>
          <p:cNvPr id="12" name="Shape 10"/>
          <p:cNvSpPr/>
          <p:nvPr/>
        </p:nvSpPr>
        <p:spPr>
          <a:xfrm>
            <a:off x="640080" y="4593336"/>
            <a:ext cx="10515600" cy="914"/>
          </a:xfrm>
          <a:prstGeom prst="line">
            <a:avLst/>
          </a:prstGeom>
          <a:noFill/>
          <a:ln w="12700">
            <a:solidFill>
              <a:srgbClr val="D7DCD1"/>
            </a:solidFill>
            <a:prstDash val="solid"/>
          </a:ln>
        </p:spPr>
      </p:sp>
      <p:sp>
        <p:nvSpPr>
          <p:cNvPr id="13" name="Shape 11"/>
          <p:cNvSpPr/>
          <p:nvPr/>
        </p:nvSpPr>
        <p:spPr>
          <a:xfrm>
            <a:off x="640080" y="4757928"/>
            <a:ext cx="457200" cy="457200"/>
          </a:xfrm>
          <a:prstGeom prst="ellipse">
            <a:avLst/>
          </a:prstGeom>
          <a:solidFill>
            <a:srgbClr val="3E5064"/>
          </a:solidFill>
          <a:ln/>
        </p:spPr>
      </p:sp>
      <p:sp>
        <p:nvSpPr>
          <p:cNvPr id="14" name="Text 12"/>
          <p:cNvSpPr txBox="1"/>
          <p:nvPr/>
        </p:nvSpPr>
        <p:spPr>
          <a:xfrm>
            <a:off x="640080" y="475792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3</a:t>
            </a:r>
            <a:endParaRPr lang="en-US" sz="1500" dirty="0"/>
          </a:p>
        </p:txBody>
      </p:sp>
      <p:sp>
        <p:nvSpPr>
          <p:cNvPr id="15" name="Text 13"/>
          <p:cNvSpPr txBox="1"/>
          <p:nvPr/>
        </p:nvSpPr>
        <p:spPr>
          <a:xfrm>
            <a:off x="1325880" y="464820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Model, client, and API are three different things</a:t>
            </a:r>
            <a:endParaRPr lang="en-US" sz="1550" dirty="0"/>
          </a:p>
        </p:txBody>
      </p:sp>
      <p:sp>
        <p:nvSpPr>
          <p:cNvPr id="16" name="Text 14"/>
          <p:cNvSpPr txBox="1"/>
          <p:nvPr/>
        </p:nvSpPr>
        <p:spPr>
          <a:xfrm>
            <a:off x="1325880" y="503224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The model generates the response; the ollama client library builds and sends the request; the API is the agreed shape of both. Swapping the client library never retrains the model.</a:t>
            </a:r>
            <a:endParaRPr lang="en-US" sz="1300" dirty="0"/>
          </a:p>
        </p:txBody>
      </p:sp>
      <p:sp>
        <p:nvSpPr>
          <p:cNvPr id="17" name="Text 1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8" name="Text 1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2 of 2</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4</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Message roles</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System = stable instructions, user = the request, assistant = the reply. Today's file sends just one user message that holds both the instruction and the request.</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5</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Response objects and safe configuration</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ollama.chat returns a structured response, not just a string — it carries metadata, timing, and usage alongside the text. Keep the model name in one visible place, and never put real secrets in source control.</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How It's Built</a:t>
            </a:r>
            <a:endParaRPr lang="en-US" sz="2400" dirty="0"/>
          </a:p>
        </p:txBody>
      </p:sp>
      <p:sp>
        <p:nvSpPr>
          <p:cNvPr id="3" name="Shape 1"/>
          <p:cNvSpPr/>
          <p:nvPr/>
        </p:nvSpPr>
        <p:spPr>
          <a:xfrm>
            <a:off x="5875020" y="2179320"/>
            <a:ext cx="9144" cy="1524000"/>
          </a:xfrm>
          <a:prstGeom prst="line">
            <a:avLst/>
          </a:prstGeom>
          <a:noFill/>
          <a:ln w="22225">
            <a:solidFill>
              <a:srgbClr val="5B646B"/>
            </a:solidFill>
            <a:prstDash val="solid"/>
          </a:ln>
        </p:spPr>
      </p:sp>
      <p:sp>
        <p:nvSpPr>
          <p:cNvPr id="4" name="Shape 2"/>
          <p:cNvSpPr/>
          <p:nvPr/>
        </p:nvSpPr>
        <p:spPr>
          <a:xfrm rot="10800000">
            <a:off x="5792724" y="3602736"/>
            <a:ext cx="164592" cy="164592"/>
          </a:xfrm>
          <a:prstGeom prst="triangle">
            <a:avLst/>
          </a:prstGeom>
          <a:solidFill>
            <a:srgbClr val="5B646B"/>
          </a:solidFill>
          <a:ln/>
        </p:spPr>
      </p:sp>
      <p:sp>
        <p:nvSpPr>
          <p:cNvPr id="5" name="Shape 3"/>
          <p:cNvSpPr/>
          <p:nvPr/>
        </p:nvSpPr>
        <p:spPr>
          <a:xfrm>
            <a:off x="5875020" y="3703320"/>
            <a:ext cx="9144" cy="1524000"/>
          </a:xfrm>
          <a:prstGeom prst="line">
            <a:avLst/>
          </a:prstGeom>
          <a:noFill/>
          <a:ln w="22225">
            <a:solidFill>
              <a:srgbClr val="5B646B"/>
            </a:solidFill>
            <a:prstDash val="solid"/>
          </a:ln>
        </p:spPr>
      </p:sp>
      <p:sp>
        <p:nvSpPr>
          <p:cNvPr id="6" name="Shape 4"/>
          <p:cNvSpPr/>
          <p:nvPr/>
        </p:nvSpPr>
        <p:spPr>
          <a:xfrm rot="10800000">
            <a:off x="5792724" y="5126736"/>
            <a:ext cx="164592" cy="164592"/>
          </a:xfrm>
          <a:prstGeom prst="triangle">
            <a:avLst/>
          </a:prstGeom>
          <a:solidFill>
            <a:srgbClr val="5B646B"/>
          </a:solidFill>
          <a:ln/>
        </p:spPr>
      </p:sp>
      <p:sp>
        <p:nvSpPr>
          <p:cNvPr id="7" name="Shape 5"/>
          <p:cNvSpPr/>
          <p:nvPr/>
        </p:nvSpPr>
        <p:spPr>
          <a:xfrm>
            <a:off x="5728716" y="2033016"/>
            <a:ext cx="292608" cy="292608"/>
          </a:xfrm>
          <a:prstGeom prst="ellipse">
            <a:avLst/>
          </a:prstGeom>
          <a:solidFill>
            <a:srgbClr val="1A1E22"/>
          </a:solidFill>
          <a:ln/>
        </p:spPr>
      </p:sp>
      <p:sp>
        <p:nvSpPr>
          <p:cNvPr id="8" name="Text 6"/>
          <p:cNvSpPr txBox="1"/>
          <p:nvPr/>
        </p:nvSpPr>
        <p:spPr>
          <a:xfrm>
            <a:off x="4869180" y="2362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input()</a:t>
            </a:r>
            <a:endParaRPr lang="en-US" sz="1000" dirty="0"/>
          </a:p>
        </p:txBody>
      </p:sp>
      <p:sp>
        <p:nvSpPr>
          <p:cNvPr id="9" name="Shape 7"/>
          <p:cNvSpPr/>
          <p:nvPr/>
        </p:nvSpPr>
        <p:spPr>
          <a:xfrm>
            <a:off x="4663440" y="34198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0" name="Text 8"/>
          <p:cNvSpPr txBox="1"/>
          <p:nvPr/>
        </p:nvSpPr>
        <p:spPr>
          <a:xfrm>
            <a:off x="4736592" y="34198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ollama.chat</a:t>
            </a:r>
            <a:endParaRPr lang="en-US" sz="1150" dirty="0"/>
          </a:p>
        </p:txBody>
      </p:sp>
      <p:sp>
        <p:nvSpPr>
          <p:cNvPr id="11" name="Text 9"/>
          <p:cNvSpPr txBox="1"/>
          <p:nvPr/>
        </p:nvSpPr>
        <p:spPr>
          <a:xfrm>
            <a:off x="4777740" y="4023360"/>
            <a:ext cx="2194560" cy="256032"/>
          </a:xfrm>
          <a:prstGeom prst="rect">
            <a:avLst/>
          </a:prstGeom>
          <a:noFill/>
          <a:ln/>
        </p:spPr>
        <p:txBody>
          <a:bodyPr wrap="square" lIns="0" tIns="0" rIns="0" bIns="0" rtlCol="0" anchor="ctr"/>
          <a:lstStyle/>
          <a:p>
            <a:pPr algn="ctr" indent="0" marL="0">
              <a:buNone/>
            </a:pPr>
            <a:r>
              <a:rPr lang="en-US" sz="900" b="1" dirty="0">
                <a:solidFill>
                  <a:srgbClr val="D9932B"/>
                </a:solidFill>
                <a:latin typeface="Consolas" pitchFamily="34" charset="0"/>
                <a:ea typeface="Consolas" pitchFamily="34" charset="-122"/>
                <a:cs typeface="Consolas" pitchFamily="34" charset="-120"/>
              </a:rPr>
              <a:t>ONE USER MESSAGE</a:t>
            </a:r>
            <a:endParaRPr lang="en-US" sz="900" dirty="0"/>
          </a:p>
        </p:txBody>
      </p:sp>
      <p:sp>
        <p:nvSpPr>
          <p:cNvPr id="12" name="Shape 10"/>
          <p:cNvSpPr/>
          <p:nvPr/>
        </p:nvSpPr>
        <p:spPr>
          <a:xfrm>
            <a:off x="5728716" y="5081016"/>
            <a:ext cx="292608" cy="292608"/>
          </a:xfrm>
          <a:prstGeom prst="ellipse">
            <a:avLst/>
          </a:prstGeom>
          <a:solidFill>
            <a:srgbClr val="1A1E22"/>
          </a:solidFill>
          <a:ln/>
        </p:spPr>
      </p:sp>
      <p:sp>
        <p:nvSpPr>
          <p:cNvPr id="13" name="Text 11"/>
          <p:cNvSpPr txBox="1"/>
          <p:nvPr/>
        </p:nvSpPr>
        <p:spPr>
          <a:xfrm>
            <a:off x="4869180" y="5410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print</a:t>
            </a:r>
            <a:endParaRPr lang="en-US" sz="1000" dirty="0"/>
          </a:p>
        </p:txBody>
      </p:sp>
      <p:sp>
        <p:nvSpPr>
          <p:cNvPr id="14" name="Text 12"/>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5B646B"/>
                </a:solidFill>
                <a:latin typeface="Calibri" pitchFamily="34" charset="0"/>
                <a:ea typeface="Calibri" pitchFamily="34" charset="-122"/>
                <a:cs typeface="Calibri" pitchFamily="34" charset="-120"/>
              </a:rPr>
              <a:t>One input, one model call, one printed result — the developer controls the flow; the model only produces text.</a:t>
            </a:r>
            <a:endParaRPr lang="en-US" sz="1200" dirty="0"/>
          </a:p>
        </p:txBody>
      </p:sp>
      <p:sp>
        <p:nvSpPr>
          <p:cNvPr id="15" name="Text 1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6" name="Text 1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1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"""Session 2: make one Ollama call and read the response it sends back."""</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import sys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import ollama</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sys.stdout.reconfigure(encoding="utf-8")  # the model may answer with punctuation Command Prompt cannot print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MODEL = "gpt-oss:120b-cloud"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request = input("Enter an IT request: ")</a:t>
            </a:r>
            <a:endParaRPr lang="en-US" sz="140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2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response = ollama.chat(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model=MODEL,</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messages=[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17          {"role": "user", "content": f'classify the following IT request: {request}'},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18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21  print("Category:", response["message"]["content"])</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Model-backed — run with Ollama signed in locally.</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Hands-On Lab  ·  ~30 min</a:t>
            </a:r>
            <a:endParaRPr lang="en-US" sz="2400" dirty="0"/>
          </a:p>
        </p:txBody>
      </p:sp>
      <p:sp>
        <p:nvSpPr>
          <p:cNvPr id="3" name="Shape 1"/>
          <p:cNvSpPr/>
          <p:nvPr/>
        </p:nvSpPr>
        <p:spPr>
          <a:xfrm>
            <a:off x="640080" y="1051560"/>
            <a:ext cx="6400800" cy="5394960"/>
          </a:xfrm>
          <a:prstGeom prst="roundRect">
            <a:avLst>
              <a:gd name="adj" fmla="val 1017"/>
            </a:avLst>
          </a:prstGeom>
          <a:solidFill>
            <a:srgbClr val="F5F7F3"/>
          </a:solidFill>
          <a:ln w="12700">
            <a:solidFill>
              <a:srgbClr val="D7DCD1"/>
            </a:solidFill>
            <a:prstDash val="solid"/>
          </a:ln>
        </p:spPr>
      </p:sp>
      <p:sp>
        <p:nvSpPr>
          <p:cNvPr id="4" name="Text 2"/>
          <p:cNvSpPr txBox="1"/>
          <p:nvPr/>
        </p:nvSpPr>
        <p:spPr>
          <a:xfrm>
            <a:off x="868680" y="1188720"/>
            <a:ext cx="5943600" cy="320040"/>
          </a:xfrm>
          <a:prstGeom prst="rect">
            <a:avLst/>
          </a:prstGeom>
          <a:noFill/>
          <a:ln/>
        </p:spPr>
        <p:txBody>
          <a:bodyPr wrap="square" lIns="0" tIns="0" rIns="0" bIns="0" rtlCol="0" anchor="ctr"/>
          <a:lstStyle/>
          <a:p>
            <a:pPr indent="0" marL="0">
              <a:buNone/>
            </a:pPr>
            <a:r>
              <a:rPr lang="en-US" sz="1200" b="1" dirty="0">
                <a:solidFill>
                  <a:srgbClr val="D9932B"/>
                </a:solidFill>
                <a:latin typeface="Consolas" pitchFamily="34" charset="0"/>
                <a:ea typeface="Consolas" pitchFamily="34" charset="-122"/>
                <a:cs typeface="Consolas" pitchFamily="34" charset="-120"/>
              </a:rPr>
              <a:t>Flow to trace</a:t>
            </a:r>
            <a:endParaRPr lang="en-US" sz="1200" dirty="0"/>
          </a:p>
        </p:txBody>
      </p:sp>
      <p:sp>
        <p:nvSpPr>
          <p:cNvPr id="5" name="Text 3"/>
          <p:cNvSpPr txBox="1"/>
          <p:nvPr/>
        </p:nvSpPr>
        <p:spPr>
          <a:xfrm>
            <a:off x="868680" y="1508760"/>
            <a:ext cx="5943600" cy="502920"/>
          </a:xfrm>
          <a:prstGeom prst="rect">
            <a:avLst/>
          </a:prstGeom>
          <a:noFill/>
          <a:ln/>
        </p:spPr>
        <p:txBody>
          <a:bodyPr wrap="square" lIns="0" tIns="0" rIns="0" bIns="0" rtlCol="0" anchor="ctr"/>
          <a:lstStyle/>
          <a:p>
            <a:pPr indent="0" marL="0">
              <a:buNone/>
            </a:pPr>
            <a:r>
              <a:rPr lang="en-US" sz="1300" dirty="0">
                <a:solidFill>
                  <a:srgbClr val="1A1E22"/>
                </a:solidFill>
                <a:latin typeface="Consolas" pitchFamily="34" charset="0"/>
                <a:ea typeface="Consolas" pitchFamily="34" charset="-122"/>
                <a:cs typeface="Consolas" pitchFamily="34" charset="-120"/>
              </a:rPr>
              <a:t>typed request -&gt; ollama.chat -&gt; printed category</a:t>
            </a:r>
            <a:endParaRPr lang="en-US" sz="1300" dirty="0"/>
          </a:p>
        </p:txBody>
      </p:sp>
      <p:sp>
        <p:nvSpPr>
          <p:cNvPr id="6" name="Text 4"/>
          <p:cNvSpPr txBox="1"/>
          <p:nvPr/>
        </p:nvSpPr>
        <p:spPr>
          <a:xfrm>
            <a:off x="868680" y="2148840"/>
            <a:ext cx="5943600" cy="4023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Read the description at the top of the file.</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Find where input() reads the request.</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Find the one ollama.chat call and its single user message.</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Predict the result, then type an IT request when prompted.</a:t>
            </a:r>
            <a:endParaRPr lang="en-US" sz="1250" dirty="0"/>
          </a:p>
        </p:txBody>
      </p:sp>
      <p:sp>
        <p:nvSpPr>
          <p:cNvPr id="7" name="Shape 5"/>
          <p:cNvSpPr/>
          <p:nvPr/>
        </p:nvSpPr>
        <p:spPr>
          <a:xfrm>
            <a:off x="7269480" y="1051560"/>
            <a:ext cx="4251960" cy="5394960"/>
          </a:xfrm>
          <a:prstGeom prst="roundRect">
            <a:avLst>
              <a:gd name="adj" fmla="val 1290"/>
            </a:avLst>
          </a:prstGeom>
          <a:solidFill>
            <a:srgbClr val="14171B"/>
          </a:solidFill>
          <a:ln/>
        </p:spPr>
      </p:sp>
      <p:sp>
        <p:nvSpPr>
          <p:cNvPr id="8" name="Text 6"/>
          <p:cNvSpPr txBox="1"/>
          <p:nvPr/>
        </p:nvSpPr>
        <p:spPr>
          <a:xfrm>
            <a:off x="7498080" y="123444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CONTROL QUESTION</a:t>
            </a:r>
            <a:endParaRPr lang="en-US" sz="1100" dirty="0"/>
          </a:p>
        </p:txBody>
      </p:sp>
      <p:sp>
        <p:nvSpPr>
          <p:cNvPr id="9" name="Text 7"/>
          <p:cNvSpPr txBox="1"/>
          <p:nvPr/>
        </p:nvSpPr>
        <p:spPr>
          <a:xfrm>
            <a:off x="7498080" y="1600200"/>
            <a:ext cx="38404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Who controls the flow? The developer — there's exactly one step. The model only produces text.</a:t>
            </a:r>
            <a:endParaRPr lang="en-US" sz="1300" dirty="0"/>
          </a:p>
        </p:txBody>
      </p:sp>
      <p:sp>
        <p:nvSpPr>
          <p:cNvPr id="10" name="Text 8"/>
          <p:cNvSpPr txBox="1"/>
          <p:nvPr/>
        </p:nvSpPr>
        <p:spPr>
          <a:xfrm>
            <a:off x="7498080" y="365760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RUN IT</a:t>
            </a:r>
            <a:endParaRPr lang="en-US" sz="1100" dirty="0"/>
          </a:p>
        </p:txBody>
      </p:sp>
      <p:sp>
        <p:nvSpPr>
          <p:cNvPr id="11" name="Text 9"/>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150" dirty="0">
                <a:solidFill>
                  <a:srgbClr val="E8ECEF"/>
                </a:solidFill>
                <a:latin typeface="Consolas" pitchFamily="34" charset="0"/>
                <a:ea typeface="Consolas" pitchFamily="34" charset="-122"/>
                <a:cs typeface="Consolas" pitchFamily="34" charset="-120"/>
              </a:rPr>
              <a:t>uv run python</a:t>
            </a:r>
            <a:endParaRPr lang="en-US" sz="1150" dirty="0"/>
          </a:p>
          <a:p>
            <a:pPr indent="0" marL="0">
              <a:buNone/>
            </a:pPr>
            <a:r>
              <a:rPr lang="en-US" sz="1150" dirty="0">
                <a:solidFill>
                  <a:srgbClr val="E8ECEF"/>
                </a:solidFill>
                <a:latin typeface="Consolas" pitchFamily="34" charset="0"/>
                <a:ea typeface="Consolas" pitchFamily="34" charset="-122"/>
                <a:cs typeface="Consolas" pitchFamily="34" charset="-120"/>
              </a:rPr>
              <a:t>Day-02-Development-Foundation\example.py</a:t>
            </a:r>
            <a:endParaRPr lang="en-US" sz="1150" dirty="0"/>
          </a:p>
        </p:txBody>
      </p:sp>
      <p:sp>
        <p:nvSpPr>
          <p:cNvPr id="12" name="Text 10"/>
          <p:cNvSpPr txBox="1"/>
          <p:nvPr/>
        </p:nvSpPr>
        <p:spPr>
          <a:xfrm>
            <a:off x="7498080" y="4892040"/>
            <a:ext cx="3840480" cy="1371600"/>
          </a:xfrm>
          <a:prstGeom prst="rect">
            <a:avLst/>
          </a:prstGeom>
          <a:noFill/>
          <a:ln/>
        </p:spPr>
        <p:txBody>
          <a:bodyPr wrap="square" lIns="0" tIns="0" rIns="0" bIns="0" rtlCol="0" anchor="t"/>
          <a:lstStyle/>
          <a:p>
            <a:pPr indent="0" marL="0">
              <a:buNone/>
            </a:pPr>
            <a:r>
              <a:rPr lang="en-US" sz="1050" i="1" dirty="0">
                <a:solidFill>
                  <a:srgbClr val="8A939A"/>
                </a:solidFill>
                <a:latin typeface="Calibri" pitchFamily="34" charset="0"/>
                <a:ea typeface="Calibri" pitchFamily="34" charset="-122"/>
                <a:cs typeface="Calibri" pitchFamily="34" charset="-120"/>
              </a:rPr>
              <a:t>Needs Ollama running locally, signed in, with gpt-oss:120b-cloud available.</a:t>
            </a:r>
            <a:endParaRPr lang="en-US" sz="1050" dirty="0"/>
          </a:p>
        </p:txBody>
      </p:sp>
      <p:sp>
        <p:nvSpPr>
          <p:cNvPr id="13" name="Text 11"/>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4" name="Text 12"/>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Assignment</a:t>
            </a:r>
            <a:endParaRPr lang="en-US" sz="2400" dirty="0"/>
          </a:p>
        </p:txBody>
      </p:sp>
      <p:sp>
        <p:nvSpPr>
          <p:cNvPr id="3" name="Text 1"/>
          <p:cNvSpPr txBox="1"/>
          <p:nvPr/>
        </p:nvSpPr>
        <p:spPr>
          <a:xfrm>
            <a:off x="640080" y="960120"/>
            <a:ext cx="10607040" cy="50292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Make one small change to example.py and explain how the result changes.</a:t>
            </a:r>
            <a:endParaRPr lang="en-US" sz="1400" dirty="0"/>
          </a:p>
        </p:txBody>
      </p:sp>
      <p:sp>
        <p:nvSpPr>
          <p:cNvPr id="4" name="Shape 2"/>
          <p:cNvSpPr/>
          <p:nvPr/>
        </p:nvSpPr>
        <p:spPr>
          <a:xfrm>
            <a:off x="640080" y="1600200"/>
            <a:ext cx="6400800" cy="4846320"/>
          </a:xfrm>
          <a:prstGeom prst="roundRect">
            <a:avLst>
              <a:gd name="adj" fmla="val 1132"/>
            </a:avLst>
          </a:prstGeom>
          <a:solidFill>
            <a:srgbClr val="F5F7F3"/>
          </a:solidFill>
          <a:ln w="12700">
            <a:solidFill>
              <a:srgbClr val="D7DCD1"/>
            </a:solidFill>
            <a:prstDash val="solid"/>
          </a:ln>
        </p:spPr>
      </p:sp>
      <p:sp>
        <p:nvSpPr>
          <p:cNvPr id="5" name="Text 3"/>
          <p:cNvSpPr txBox="1"/>
          <p:nvPr/>
        </p:nvSpPr>
        <p:spPr>
          <a:xfrm>
            <a:off x="868680" y="1783080"/>
            <a:ext cx="5943600" cy="4480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once and note the request you typed and the category returned.</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what category a different request would get.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again with a different request.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Compare the new category to your prediction.</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Write three sentences: request, category, why you think it chose that.</a:t>
            </a:r>
            <a:endParaRPr lang="en-US" sz="1250" dirty="0"/>
          </a:p>
        </p:txBody>
      </p:sp>
      <p:sp>
        <p:nvSpPr>
          <p:cNvPr id="6" name="Shape 4"/>
          <p:cNvSpPr/>
          <p:nvPr/>
        </p:nvSpPr>
        <p:spPr>
          <a:xfrm>
            <a:off x="7269480" y="1600200"/>
            <a:ext cx="4251960" cy="4846320"/>
          </a:xfrm>
          <a:prstGeom prst="roundRect">
            <a:avLst>
              <a:gd name="adj" fmla="val 1290"/>
            </a:avLst>
          </a:prstGeom>
          <a:solidFill>
            <a:srgbClr val="3E5064"/>
          </a:solidFill>
          <a:ln/>
        </p:spPr>
      </p:sp>
      <p:sp>
        <p:nvSpPr>
          <p:cNvPr id="7" name="Text 5"/>
          <p:cNvSpPr txBox="1"/>
          <p:nvPr/>
        </p:nvSpPr>
        <p:spPr>
          <a:xfrm>
            <a:off x="7498080" y="178308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RULES</a:t>
            </a:r>
            <a:endParaRPr lang="en-US" sz="1100" dirty="0"/>
          </a:p>
        </p:txBody>
      </p:sp>
      <p:sp>
        <p:nvSpPr>
          <p:cNvPr id="8" name="Text 6"/>
          <p:cNvSpPr txBox="1"/>
          <p:nvPr/>
        </p:nvSpPr>
        <p:spPr>
          <a:xfrm>
            <a:off x="7498080" y="2148840"/>
            <a:ext cx="3886200" cy="4206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the example in one Python file.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Do not import LangGraph or any other framework.</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test folder or helper package.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the uv commands shown — no other package manager.</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MODEL = "gpt-oss:120b-cloud" unchanged.</a:t>
            </a:r>
            <a:endParaRPr lang="en-US" sz="1150" dirty="0"/>
          </a:p>
        </p:txBody>
      </p:sp>
      <p:sp>
        <p:nvSpPr>
          <p:cNvPr id="9" name="Text 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0" name="Text 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Before You Move On</a:t>
            </a:r>
            <a:endParaRPr lang="en-US" sz="2600" dirty="0"/>
          </a:p>
        </p:txBody>
      </p:sp>
      <p:sp>
        <p:nvSpPr>
          <p:cNvPr id="3" name="Text 1"/>
          <p:cNvSpPr txBox="1"/>
          <p:nvPr/>
        </p:nvSpPr>
        <p:spPr>
          <a:xfrm>
            <a:off x="685800" y="1280160"/>
            <a:ext cx="7498080" cy="4572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The file still runs and reaches the model.</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name the input, the model call, and the output.</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explain who controls the next step vs. what the model produces.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tried at least two different IT requests.</a:t>
            </a:r>
            <a:endParaRPr lang="en-US" sz="1350" dirty="0"/>
          </a:p>
        </p:txBody>
      </p:sp>
      <p:sp>
        <p:nvSpPr>
          <p:cNvPr id="4" name="Shape 2"/>
          <p:cNvSpPr/>
          <p:nvPr/>
        </p:nvSpPr>
        <p:spPr>
          <a:xfrm>
            <a:off x="8503920" y="1280160"/>
            <a:ext cx="3017520" cy="4572000"/>
          </a:xfrm>
          <a:prstGeom prst="roundRect">
            <a:avLst>
              <a:gd name="adj" fmla="val 1818"/>
            </a:avLst>
          </a:prstGeom>
          <a:solidFill>
            <a:srgbClr val="1E232A"/>
          </a:solidFill>
          <a:ln w="12700">
            <a:solidFill>
              <a:srgbClr val="2E353D"/>
            </a:solidFill>
            <a:prstDash val="solid"/>
          </a:ln>
        </p:spPr>
      </p:sp>
      <p:sp>
        <p:nvSpPr>
          <p:cNvPr id="5" name="Text 3"/>
          <p:cNvSpPr txBox="1"/>
          <p:nvPr/>
        </p:nvSpPr>
        <p:spPr>
          <a:xfrm>
            <a:off x="8732520" y="1463040"/>
            <a:ext cx="2560320" cy="274320"/>
          </a:xfrm>
          <a:prstGeom prst="rect">
            <a:avLst/>
          </a:prstGeom>
          <a:noFill/>
          <a:ln/>
        </p:spPr>
        <p:txBody>
          <a:bodyPr wrap="square" lIns="0" tIns="0" rIns="0" bIns="0" rtlCol="0" anchor="ctr"/>
          <a:lstStyle/>
          <a:p>
            <a:pPr indent="0" marL="0">
              <a:buNone/>
            </a:pPr>
            <a:r>
              <a:rPr lang="en-US" sz="1000" b="1" spc="100" kern="0" dirty="0">
                <a:solidFill>
                  <a:srgbClr val="D9932B"/>
                </a:solidFill>
                <a:latin typeface="Consolas" pitchFamily="34" charset="0"/>
                <a:ea typeface="Consolas" pitchFamily="34" charset="-122"/>
                <a:cs typeface="Consolas" pitchFamily="34" charset="-120"/>
              </a:rPr>
              <a:t>USEFUL LINKS</a:t>
            </a:r>
            <a:endParaRPr lang="en-US" sz="1000" dirty="0"/>
          </a:p>
        </p:txBody>
      </p:sp>
      <p:sp>
        <p:nvSpPr>
          <p:cNvPr id="6" name="Text 4">
            <a:hlinkClick r:id="rId1" tooltip=""/>
          </p:cNvPr>
          <p:cNvSpPr txBox="1"/>
          <p:nvPr/>
        </p:nvSpPr>
        <p:spPr>
          <a:xfrm>
            <a:off x="8732520" y="18288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 2 README</a:t>
            </a:r>
            <a:endParaRPr lang="en-US" sz="1150" dirty="0"/>
          </a:p>
        </p:txBody>
      </p:sp>
      <p:sp>
        <p:nvSpPr>
          <p:cNvPr id="7" name="Text 5">
            <a:hlinkClick r:id="rId2" tooltip=""/>
          </p:cNvPr>
          <p:cNvSpPr txBox="1"/>
          <p:nvPr/>
        </p:nvSpPr>
        <p:spPr>
          <a:xfrm>
            <a:off x="8732520" y="22860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Ollama Python library</a:t>
            </a:r>
            <a:endParaRPr lang="en-US" sz="1150" dirty="0"/>
          </a:p>
        </p:txBody>
      </p:sp>
      <p:sp>
        <p:nvSpPr>
          <p:cNvPr id="8" name="Text 6">
            <a:hlinkClick r:id="rId3" tooltip="" action="ppaction://hlinksldjump"/>
          </p:cNvPr>
          <p:cNvSpPr txBox="1"/>
          <p:nvPr/>
        </p:nvSpPr>
        <p:spPr>
          <a:xfrm>
            <a:off x="685800" y="6126480"/>
            <a:ext cx="1828800" cy="32004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9" name="Shape 7"/>
          <p:cNvSpPr/>
          <p:nvPr/>
        </p:nvSpPr>
        <p:spPr>
          <a:xfrm>
            <a:off x="8503920" y="5989320"/>
            <a:ext cx="3017520" cy="548640"/>
          </a:xfrm>
          <a:prstGeom prst="roundRect">
            <a:avLst>
              <a:gd name="adj" fmla="val 50000"/>
            </a:avLst>
          </a:prstGeom>
          <a:solidFill>
            <a:srgbClr val="D9932B"/>
          </a:solidFill>
          <a:ln/>
        </p:spPr>
      </p:sp>
      <p:sp>
        <p:nvSpPr>
          <p:cNvPr id="10" name="Text 8">
            <a:hlinkClick r:id="rId4" tooltip=""/>
          </p:cNvPr>
          <p:cNvSpPr txBox="1"/>
          <p:nvPr/>
        </p:nvSpPr>
        <p:spPr>
          <a:xfrm>
            <a:off x="8503920" y="5989320"/>
            <a:ext cx="3017520" cy="548640"/>
          </a:xfrm>
          <a:prstGeom prst="rect">
            <a:avLst/>
          </a:prstGeom>
          <a:noFill/>
          <a:ln/>
        </p:spPr>
        <p:txBody>
          <a:bodyPr wrap="square" lIns="0" tIns="0" rIns="0" bIns="0" rtlCol="0" anchor="ctr"/>
          <a:lstStyle/>
          <a:p>
            <a:pPr algn="ctr" indent="0" marL="0">
              <a:buNone/>
            </a:pPr>
            <a:r>
              <a:rPr lang="en-US" sz="1200" b="1" u="sng" dirty="0">
                <a:solidFill>
                  <a:srgbClr val="241A0A"/>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Next: Day 3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L2 Agent Engineering</dc:creator>
  <cp:lastModifiedBy>L2 Agent Engineering</cp:lastModifiedBy>
  <cp:revision>1</cp:revision>
  <dcterms:created xsi:type="dcterms:W3CDTF">2026-09-07T10:04:29Z</dcterms:created>
  <dcterms:modified xsi:type="dcterms:W3CDTF">2026-09-07T10:04:29Z</dcterms:modified>
</cp:coreProperties>
</file>