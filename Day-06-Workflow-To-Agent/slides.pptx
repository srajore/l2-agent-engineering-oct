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the model's bounded TOOL/ANSWER choice and validates it before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any row to jump straight to that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the model's bounded TOOL/ANSWER choice and validates it before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the model's bounded TOOL/ANSWER choice and validates it before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the model's bounded TOOL/ANSWER choice and validates it before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the model's bounded TOOL/ANSWER choice and validates it before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the model's bounded TOOL/ANSWER choice and validates it before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the model's bounded TOOL/ANSWER choice and validates it before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the model's bounded TOOL/ANSWER choice and validates it before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the model's bounded TOOL/ANSWER choice and validates it before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the model's bounded TOOL/ANSWER choice and validates it before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../Day-05-Tool-Integration/slides.pptx" TargetMode="External"/><Relationship Id="rId2" Type="http://schemas.openxmlformats.org/officeDocument/2006/relationships/slide" Target="slide2.xml"/><Relationship Id="rId3" Type="http://schemas.openxmlformats.org/officeDocument/2006/relationships/hyperlink" Target="../Day-07-State-Memory-Persistence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hyperlink" Target="README.md" TargetMode="External"/><Relationship Id="rId2" Type="http://schemas.openxmlformats.org/officeDocument/2006/relationships/slide" Target="slide2.xml"/><Relationship Id="rId3" Type="http://schemas.openxmlformats.org/officeDocument/2006/relationships/hyperlink" Target="../Day-07-State-Memory-Persistence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685800"/>
            <a:ext cx="1188720" cy="41148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685800"/>
            <a:ext cx="548640" cy="10515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097280"/>
            <a:ext cx="685800" cy="12344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378440" y="1737360"/>
            <a:ext cx="1051560" cy="5943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2331720"/>
            <a:ext cx="914400" cy="5486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1292840" y="1737360"/>
            <a:ext cx="137160" cy="114300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713232"/>
            <a:ext cx="768096" cy="768096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429768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0" name="Shape 8"/>
          <p:cNvSpPr/>
          <p:nvPr/>
        </p:nvSpPr>
        <p:spPr>
          <a:xfrm>
            <a:off x="11009376" y="1316736"/>
            <a:ext cx="841248" cy="841248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1" name="Shape 9"/>
          <p:cNvSpPr/>
          <p:nvPr/>
        </p:nvSpPr>
        <p:spPr>
          <a:xfrm>
            <a:off x="10076688" y="2029968"/>
            <a:ext cx="603504" cy="603504"/>
          </a:xfrm>
          <a:prstGeom prst="ellipse">
            <a:avLst/>
          </a:prstGeom>
          <a:solidFill>
            <a:srgbClr val="57646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55096" y="2642616"/>
            <a:ext cx="475488" cy="475488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06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 AGENT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6060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Workflow to Agent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34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— not a rule — chooses the next step for the first time.</a:t>
            </a:r>
            <a:endParaRPr lang="en-US" sz="1500" dirty="0"/>
          </a:p>
        </p:txBody>
      </p:sp>
      <p:sp>
        <p:nvSpPr>
          <p:cNvPr id="17" name="Text 15">
            <a:hlinkClick r:id="rId1" tooltip=""/>
          </p:cNvPr>
          <p:cNvSpPr txBox="1"/>
          <p:nvPr/>
        </p:nvSpPr>
        <p:spPr>
          <a:xfrm>
            <a:off x="64008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Day 5</a:t>
            </a:r>
            <a:endParaRPr lang="en-US" sz="1100" dirty="0"/>
          </a:p>
        </p:txBody>
      </p:sp>
      <p:sp>
        <p:nvSpPr>
          <p:cNvPr id="18" name="Text 16">
            <a:hlinkClick r:id="rId2" tooltip="" action="ppaction://hlinksldjump"/>
          </p:cNvPr>
          <p:cNvSpPr txBox="1"/>
          <p:nvPr/>
        </p:nvSpPr>
        <p:spPr>
          <a:xfrm>
            <a:off x="5029200" y="5989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↓  agenda</a:t>
            </a:r>
            <a:endParaRPr lang="en-US" sz="1100" dirty="0"/>
          </a:p>
        </p:txBody>
      </p:sp>
      <p:sp>
        <p:nvSpPr>
          <p:cNvPr id="19" name="Text 17">
            <a:hlinkClick r:id="rId3" tooltip=""/>
          </p:cNvPr>
          <p:cNvSpPr txBox="1"/>
          <p:nvPr/>
        </p:nvSpPr>
        <p:spPr>
          <a:xfrm>
            <a:off x="768096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7  →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Day-06-Workflow-To-Agent\example.py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Today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Workflow to Agent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>
            <a:hlinkClick r:id="rId1" tooltip="" action="ppaction://hlinksldjump"/>
          </p:cNvPr>
          <p:cNvSpPr txBox="1"/>
          <p:nvPr/>
        </p:nvSpPr>
        <p:spPr>
          <a:xfrm>
            <a:off x="141732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This Matters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>
            <a:hlinkClick r:id="rId2" tooltip="" action="ppaction://hlinksldjump"/>
          </p:cNvPr>
          <p:cNvSpPr txBox="1"/>
          <p:nvPr/>
        </p:nvSpPr>
        <p:spPr>
          <a:xfrm>
            <a:off x="699516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Concepts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>
            <a:hlinkClick r:id="rId3" tooltip="" action="ppaction://hlinksldjump"/>
          </p:cNvPr>
          <p:cNvSpPr txBox="1"/>
          <p:nvPr/>
        </p:nvSpPr>
        <p:spPr>
          <a:xfrm>
            <a:off x="141732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It's Built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>
            <a:hlinkClick r:id="rId4" tooltip="" action="ppaction://hlinksldjump"/>
          </p:cNvPr>
          <p:cNvSpPr txBox="1"/>
          <p:nvPr/>
        </p:nvSpPr>
        <p:spPr>
          <a:xfrm>
            <a:off x="699516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>
            <a:hlinkClick r:id="rId5" tooltip="" action="ppaction://hlinksldjump"/>
          </p:cNvPr>
          <p:cNvSpPr txBox="1"/>
          <p:nvPr/>
        </p:nvSpPr>
        <p:spPr>
          <a:xfrm>
            <a:off x="141732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 Lab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251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>
            <a:hlinkClick r:id="rId6" tooltip="" action="ppaction://hlinksldjump"/>
          </p:cNvPr>
          <p:cNvSpPr txBox="1"/>
          <p:nvPr/>
        </p:nvSpPr>
        <p:spPr>
          <a:xfrm>
            <a:off x="699516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4389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>
            <a:hlinkClick r:id="rId7" tooltip="" action="ppaction://hlinksldjump"/>
          </p:cNvPr>
          <p:cNvSpPr txBox="1"/>
          <p:nvPr/>
        </p:nvSpPr>
        <p:spPr>
          <a:xfrm>
            <a:off x="1417320" y="4389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Wrap-Up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06  ·  FROM WORKFLOW TO AGENT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Day 5, you built the whole path yourself — every edge was fixed. Today that changes: the graph still defines the only legal choices, but now the model decides which of two allowed paths to take — call a tool, or answer directly. This is the smallest possible "agent": not unlimited freedom, but one bounded decision instead of a path you wrote in advance.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06  ·  FROM WORKFLOW TO AGENT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1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permitted actions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may only answer TOOL or ANSWER — a small menu, not open-ended freedom, which makes its behavior easy to understand, test, and reason about.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3217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9676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96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87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Calling the course model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7108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decide node sends one prompt to gpt-oss:120b-cloud, asking for exactly one word: TOOL for a password request, ANSWER for anything else.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9333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75792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57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48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normalize, and validate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503224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model output can vary in spacing or capitalization, so the code strips and uppercases it, then checks it against the two allowed values — falling back to ANSWER if the model returns anything else.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06  ·  FROM WORKFLOW TO AGENT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2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and the conditional edge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returns {"action": action} into state, so the decision is visible, not hidden. next_node reads that field and returns "tool" or "answer", which LangGraph matches to the two real node names.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decision, then stop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tool branch and the answer branch lead straight to END. The model makes exactly one decision per run — bounded does not mean uncontrolled.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06  ·  FROM WORKFLOW TO AGENT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Built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75020" y="1988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92724" y="3031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3394710" y="3131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4715501">
            <a:off x="3312414" y="4174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5875020" y="3131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884499">
            <a:off x="8273034" y="4174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9" name="Shape 7"/>
          <p:cNvSpPr/>
          <p:nvPr/>
        </p:nvSpPr>
        <p:spPr>
          <a:xfrm>
            <a:off x="3394710" y="4274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884499">
            <a:off x="5792724" y="5317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1" name="Shape 9"/>
          <p:cNvSpPr/>
          <p:nvPr/>
        </p:nvSpPr>
        <p:spPr>
          <a:xfrm flipH="1">
            <a:off x="5875020" y="4274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4715501">
            <a:off x="5792724" y="5317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3" name="Shape 11"/>
          <p:cNvSpPr/>
          <p:nvPr/>
        </p:nvSpPr>
        <p:spPr>
          <a:xfrm>
            <a:off x="5728716" y="1842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69180" y="2171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848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D9932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36592" y="2848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77740" y="34518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CALL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83130" y="3991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256282" y="3991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43750" y="3991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216902" y="3991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728716" y="5271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69180" y="5600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is the first node in the course where the model — not the developer — picks the next branch.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06  ·  FROM WORKFLOW TO AGENT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1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"""Session 6: the model chooses one permitted next action."""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import ollama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from langgraph.graph import END, START, StateGraph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MODEL = "gpt-oss:120b-cloud"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def decide(state):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   prompt = """Choose the next action for this IT request.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Return only TOOL for a password request.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Return only ANSWER for anything else.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Request: """ + state["request"]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    response = ollama.chat(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        model=MODEL,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        messages=[{"role": "user", "content": prompt}],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20      )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    action = response["message"]["content"].strip().upper()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    if action not in ["TOOL", "ANSWER"]: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        action = "ANSWER"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 </a:t>
            </a:r>
            <a:endParaRPr lang="en-US" sz="12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     return {"action": action}</a:t>
            </a:r>
            <a:endParaRPr lang="en-US" sz="123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06  ·  FROM WORKFLOW TO AGENT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2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 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 def next_node(state):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     return state["action"].lower()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 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 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 def use_tool(state):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     return {"answer": "Tool result: open the password reset page."}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 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 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 def answer_directly(state):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     return {"answer": "Direct answer: your request was received."}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 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 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 graph_builder = StateGraph(dict)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 graph_builder.add_node("decide", decide)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 graph_builder.add_node("tool", use_tool)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 graph_builder.add_node("answer", answer_directly)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 graph_builder.add_edge(START, "decide")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 graph_builder.add_conditional_edges("decide", next_node)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 graph_builder.add_edge("tool", END)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 graph_builder.add_edge("answer", END)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 graph = graph_builder.compile()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 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  result = graph.invoke({"request": "How do I reset my password?"})</a:t>
            </a:r>
            <a:endParaRPr lang="en-US" sz="12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 print(result["answer"])</a:t>
            </a:r>
            <a:endParaRPr lang="en-US" sz="128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53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Model-backed — the first genuine agent decision in the course.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06  ·  FROM WORKFLOW TO AGENT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~30 min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6400800" cy="5394960"/>
          </a:xfrm>
          <a:prstGeom prst="roundRect">
            <a:avLst>
              <a:gd name="adj" fmla="val 101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to draw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-&gt; decide -&gt; tool or answer -&gt; END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example.py and find each node function.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edges from START to END.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printed result before running.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051560"/>
            <a:ext cx="4251960" cy="5394960"/>
          </a:xfrm>
          <a:prstGeom prst="roundRect">
            <a:avLst>
              <a:gd name="adj" fmla="val 1290"/>
            </a:avLst>
          </a:prstGeom>
          <a:solidFill>
            <a:srgbClr val="1417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chooses the action. The graph limits the choice to only tool or answer.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Day-06-Workflow-To-Agent\example.py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48920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ollama signin once. Needs Ollama running locally with gpt-oss:120b-cloud available.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06  ·  FROM WORKFLOW TO AGENT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small change to example.py and explain how the result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sample input near the bottom of example.py.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current output without running the file.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example from the repository root.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one input value or short sentence.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new route or output, then run again to confirm.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sentences: what changed, what happened, why.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251960" cy="4846320"/>
          </a:xfrm>
          <a:prstGeom prst="roundRect">
            <a:avLst>
              <a:gd name="adj" fmla="val 129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4884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example in one Python file.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directly.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folder or helper package.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uv commands shown — no other package manager.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MODEL = "gpt-oss:120b-cloud" unchanged.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06  ·  FROM WORKFLOW TO AGENT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Move 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7498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runs successfully from the repository root.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input, node(s), route taken, and output.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who chooses the action (the model) vs. who limits the choice (the graph).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one-change assignment ran twice.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0"/>
            <a:ext cx="3017520" cy="4572000"/>
          </a:xfrm>
          <a:prstGeom prst="roundRect">
            <a:avLst>
              <a:gd name="adj" fmla="val 1818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LINKS</a:t>
            </a:r>
            <a:endParaRPr lang="en-US" sz="10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873252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6 README</a:t>
            </a:r>
            <a:endParaRPr lang="en-US" sz="1150" dirty="0"/>
          </a:p>
        </p:txBody>
      </p:sp>
      <p:sp>
        <p:nvSpPr>
          <p:cNvPr id="7" name="Text 5">
            <a:hlinkClick r:id="rId2" tooltip="" action="ppaction://hlinksldjump"/>
          </p:cNvPr>
          <p:cNvSpPr txBox="1"/>
          <p:nvPr/>
        </p:nvSpPr>
        <p:spPr>
          <a:xfrm>
            <a:off x="685800" y="6126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agenda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59893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D9932B"/>
          </a:solidFill>
          <a:ln/>
        </p:spPr>
      </p:sp>
      <p:sp>
        <p:nvSpPr>
          <p:cNvPr id="9" name="Text 7">
            <a:hlinkClick r:id="rId3" tooltip=""/>
          </p:cNvPr>
          <p:cNvSpPr txBox="1"/>
          <p:nvPr/>
        </p:nvSpPr>
        <p:spPr>
          <a:xfrm>
            <a:off x="8503920" y="5989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Day 7 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L2 Agent Engineering</dc:creator>
  <cp:lastModifiedBy>L2 Agent Engineering</cp:lastModifiedBy>
  <cp:revision>1</cp:revision>
  <dcterms:created xsi:type="dcterms:W3CDTF">2026-09-07T10:04:29Z</dcterms:created>
  <dcterms:modified xsi:type="dcterms:W3CDTF">2026-09-07T10:04:29Z</dcterms:modified>
</cp:coreProperties>
</file>