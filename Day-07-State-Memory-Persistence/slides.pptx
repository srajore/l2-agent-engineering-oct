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8"/>
    <p:sldId id="268" r:id="rId19"/>
    <p:sldId id="269" r:id="rId20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configures a checkpointer and uses a thread ID for continuity and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any row to jump straight to that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configures a checkpointer and uses a thread ID for continuity and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configures a checkpointer and uses a thread ID for continuity and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configures a checkpointer and uses a thread ID for continuity and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configures a checkpointer and uses a thread ID for continuity and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configures a checkpointer and uses a thread ID for continuity and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configures a checkpointer and uses a thread ID for continuity and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configures a checkpointer and uses a thread ID for continuity and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configures a checkpointer and uses a thread ID for continuity and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configures a checkpointer and uses a thread ID for continuity and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hyperlink" Target="../Day-06-Workflow-To-Agent/slides.pptx" TargetMode="External"/><Relationship Id="rId2" Type="http://schemas.openxmlformats.org/officeDocument/2006/relationships/slide" Target="slide2.xml"/><Relationship Id="rId3" Type="http://schemas.openxmlformats.org/officeDocument/2006/relationships/hyperlink" Target="../Day-08-Human-In-The-Loop/slides.ppt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4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hyperlink" Target="example.p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hyperlink" Target="example.p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hyperlink" Target="README.md" TargetMode="External"/><Relationship Id="rId2" Type="http://schemas.openxmlformats.org/officeDocument/2006/relationships/slide" Target="slide2.xml"/><Relationship Id="rId3" Type="http://schemas.openxmlformats.org/officeDocument/2006/relationships/hyperlink" Target="../Day-08-Human-In-The-Loop/slides.ppt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92640" y="685800"/>
            <a:ext cx="1188720" cy="41148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685800"/>
            <a:ext cx="548640" cy="105156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1097280"/>
            <a:ext cx="685800" cy="123444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378440" y="1737360"/>
            <a:ext cx="1051560" cy="59436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78440" y="2331720"/>
            <a:ext cx="914400" cy="54864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11292840" y="1737360"/>
            <a:ext cx="137160" cy="114300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713232"/>
            <a:ext cx="768096" cy="768096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429768"/>
            <a:ext cx="512064" cy="512064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10" name="Shape 8"/>
          <p:cNvSpPr/>
          <p:nvPr/>
        </p:nvSpPr>
        <p:spPr>
          <a:xfrm>
            <a:off x="11009376" y="1316736"/>
            <a:ext cx="841248" cy="841248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11" name="Shape 9"/>
          <p:cNvSpPr/>
          <p:nvPr/>
        </p:nvSpPr>
        <p:spPr>
          <a:xfrm>
            <a:off x="10076688" y="2029968"/>
            <a:ext cx="603504" cy="603504"/>
          </a:xfrm>
          <a:prstGeom prst="ellipse">
            <a:avLst/>
          </a:prstGeom>
          <a:solidFill>
            <a:srgbClr val="57646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55096" y="2642616"/>
            <a:ext cx="475488" cy="475488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07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THE AGENT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60604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State, Memory &amp; Persistence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434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thread ID is the key that lets a conversation continue.</a:t>
            </a:r>
            <a:endParaRPr lang="en-US" sz="1500" dirty="0"/>
          </a:p>
        </p:txBody>
      </p:sp>
      <p:sp>
        <p:nvSpPr>
          <p:cNvPr id="17" name="Text 15">
            <a:hlinkClick r:id="rId1" tooltip=""/>
          </p:cNvPr>
          <p:cNvSpPr txBox="1"/>
          <p:nvPr/>
        </p:nvSpPr>
        <p:spPr>
          <a:xfrm>
            <a:off x="640080" y="5989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Day 6</a:t>
            </a:r>
            <a:endParaRPr lang="en-US" sz="1100" dirty="0"/>
          </a:p>
        </p:txBody>
      </p:sp>
      <p:sp>
        <p:nvSpPr>
          <p:cNvPr id="18" name="Text 16">
            <a:hlinkClick r:id="rId2" tooltip="" action="ppaction://hlinksldjump"/>
          </p:cNvPr>
          <p:cNvSpPr txBox="1"/>
          <p:nvPr/>
        </p:nvSpPr>
        <p:spPr>
          <a:xfrm>
            <a:off x="5029200" y="5989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↓  agenda</a:t>
            </a:r>
            <a:endParaRPr lang="en-US" sz="1100" dirty="0"/>
          </a:p>
        </p:txBody>
      </p:sp>
      <p:sp>
        <p:nvSpPr>
          <p:cNvPr id="19" name="Text 17">
            <a:hlinkClick r:id="rId3" tooltip=""/>
          </p:cNvPr>
          <p:cNvSpPr txBox="1"/>
          <p:nvPr/>
        </p:nvSpPr>
        <p:spPr>
          <a:xfrm>
            <a:off x="7680960" y="5989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 8  →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Day-07-State-Memory-Persistence\example.py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Inside Today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Memory &amp; Persistence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783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>
            <a:hlinkClick r:id="rId1" tooltip="" action="ppaction://hlinksldjump"/>
          </p:cNvPr>
          <p:cNvSpPr txBox="1"/>
          <p:nvPr/>
        </p:nvSpPr>
        <p:spPr>
          <a:xfrm>
            <a:off x="1417320" y="1783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This Matters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82512" y="1783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>
            <a:hlinkClick r:id="rId2" tooltip="" action="ppaction://hlinksldjump"/>
          </p:cNvPr>
          <p:cNvSpPr txBox="1"/>
          <p:nvPr/>
        </p:nvSpPr>
        <p:spPr>
          <a:xfrm>
            <a:off x="6995160" y="1783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 Concepts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2651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>
            <a:hlinkClick r:id="rId3" tooltip="" action="ppaction://hlinksldjump"/>
          </p:cNvPr>
          <p:cNvSpPr txBox="1"/>
          <p:nvPr/>
        </p:nvSpPr>
        <p:spPr>
          <a:xfrm>
            <a:off x="1417320" y="2651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It's Built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265176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2512" y="2651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>
            <a:hlinkClick r:id="rId4" tooltip="" action="ppaction://hlinksldjump"/>
          </p:cNvPr>
          <p:cNvSpPr txBox="1"/>
          <p:nvPr/>
        </p:nvSpPr>
        <p:spPr>
          <a:xfrm>
            <a:off x="6995160" y="2651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Code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520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>
            <a:hlinkClick r:id="rId5" tooltip="" action="ppaction://hlinksldjump"/>
          </p:cNvPr>
          <p:cNvSpPr txBox="1"/>
          <p:nvPr/>
        </p:nvSpPr>
        <p:spPr>
          <a:xfrm>
            <a:off x="1417320" y="3520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Hands-On Lab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35204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82512" y="3520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>
            <a:hlinkClick r:id="rId6" tooltip="" action="ppaction://hlinksldjump"/>
          </p:cNvPr>
          <p:cNvSpPr txBox="1"/>
          <p:nvPr/>
        </p:nvSpPr>
        <p:spPr>
          <a:xfrm>
            <a:off x="6995160" y="3520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Assignment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438912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" y="43891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>
            <a:hlinkClick r:id="rId7" tooltip="" action="ppaction://hlinksldjump"/>
          </p:cNvPr>
          <p:cNvSpPr txBox="1"/>
          <p:nvPr/>
        </p:nvSpPr>
        <p:spPr>
          <a:xfrm>
            <a:off x="1417320" y="43891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Wrap-Up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07  ·  STATE, MEMORY &amp; PERSISTENCE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3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4241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C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691640"/>
            <a:ext cx="9692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extra setup, a graph forgets everything the moment it finishes — the next call starts from nothing. Today's missing piece: one conversation thread can continue exactly where it left off, while a different thread stays isolated, because memory belongs to an application thread, not the model itself.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07  ·  STATE, MEMORY &amp; PERSISTENCE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Part 1 of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9966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the typed, explicit set of values nodes read and write — a case folder holding messages and flags. It's application data you define, not something hidden inside the model.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3217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9676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096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987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Short-term memory vs. persistence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371088"/>
            <a:ext cx="9966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memory means saved state gets reloaded for a later turn in the same thread. Persistence is where and how long those checkpoints survive — in-memory storage here only lasts the running process.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59333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75792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757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6482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checkpointer and thread_id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5032248"/>
            <a:ext cx="9966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InMemorySaver stores checkpoints while the process runs. thread_id is the stable key identifying one conversation — never reuse one shared ID across different users.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07  ·  STATE, MEMORY &amp; PERSISTENCE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Part 2 of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Tracing continuity and isolation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thread ID: the second call loads the first call's saved values — continuity. Different thread ID: the new call starts with nothing — isolation. get_state(config) inspects any thread's latest saved values directly.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6275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92734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9273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8176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Recovery and side effects, a preview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20166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graph is resumed later, code that ran before the pause can end up running again. This previews the idempotent-action idea Day 8 builds on.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07  ·  STATE, MEMORY &amp; PERSISTENCE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It's Built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875020" y="2179320"/>
            <a:ext cx="9144" cy="1524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5792724" y="36027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5" name="Shape 3"/>
          <p:cNvSpPr/>
          <p:nvPr/>
        </p:nvSpPr>
        <p:spPr>
          <a:xfrm>
            <a:off x="5875020" y="3703320"/>
            <a:ext cx="9144" cy="1524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5792724" y="51267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7" name="Shape 5"/>
          <p:cNvSpPr/>
          <p:nvPr/>
        </p:nvSpPr>
        <p:spPr>
          <a:xfrm>
            <a:off x="5728716" y="2033016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69180" y="2362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34198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736592" y="34198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remember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777740" y="40233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INVOKED TWICE, SAME THREAD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728716" y="5081016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69180" y="5410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thread_id links two separate graph.invoke() calls into one continuous conversation.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07  ·  STATE, MEMORY &amp; PERSISTENCE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  ·  Part 1 of 2</a:t>
            </a:r>
            <a:endParaRPr lang="en-US" sz="20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8595360" y="365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5166360"/>
          </a:xfrm>
          <a:prstGeom prst="roundRect">
            <a:avLst>
              <a:gd name="adj" fmla="val 1062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078992"/>
            <a:ext cx="10424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"""Session 7: remember values between calls with a thread ID."""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from langgraph.checkpoint.memory import InMemorySaver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from langgraph.graph import END, START, StateGraph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from typing import TypedDict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# This small state definition lets LangGraph save each value separately.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class MemoryState(TypedDict, total=False):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    name: str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    saved_name: str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    question: str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def remember_name(state):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    if state.get("name"):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        return {"saved_name": state["name"]}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     return {}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07  ·  STATE, MEMORY &amp; PERSISTENCE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  ·  Part 2 of 2</a:t>
            </a:r>
            <a:endParaRPr lang="en-US" sz="20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8595360" y="365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5166360"/>
          </a:xfrm>
          <a:prstGeom prst="roundRect">
            <a:avLst>
              <a:gd name="adj" fmla="val 1062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078992"/>
            <a:ext cx="10424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 graph_builder = StateGraph(MemoryState)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 graph_builder.add_node("remember", remember_name)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 graph_builder.add_edge(START, "remember")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 graph_builder.add_edge("remember", END)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 graph = graph_builder.compile(checkpointer=InMemorySaver())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 # The same thread ID continues the same conversation.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 settings = {"configurable": {"thread_id": "student-1"}}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 graph.invoke({"name": "Asha"}, config=settings)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 result = graph.invoke({"question": "What is my name?"}, config=settings)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 print("Remembered name:", result["saved_name"])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153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— no live model call; the checkpointer is what makes memory possible.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07  ·  STATE, MEMORY &amp; PERSISTENCE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 Lab  ·  ~30 min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6400800" cy="5394960"/>
          </a:xfrm>
          <a:prstGeom prst="roundRect">
            <a:avLst>
              <a:gd name="adj" fmla="val 1017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1887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to draw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5087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-&gt; remember -&gt; END, called twice with the same thread ID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5943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example.py and find the node and its registration.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graph is invoked twice.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printed result before running.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269480" y="1051560"/>
            <a:ext cx="4251960" cy="5394960"/>
          </a:xfrm>
          <a:prstGeom prst="roundRect">
            <a:avLst>
              <a:gd name="adj" fmla="val 1290"/>
            </a:avLst>
          </a:prstGeom>
          <a:solidFill>
            <a:srgbClr val="1417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QUESTION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6002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saves state for the selected thread. Changing the thread ID (not the name) is what breaks continuity.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IT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40233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Day-07-State-Memory-Persistence\example.py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07  ·  STATE, MEMORY &amp; PERSISTENCE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one small change to example.py and explain how the result changes.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0" cy="4846320"/>
          </a:xfrm>
          <a:prstGeom prst="roundRect">
            <a:avLst>
              <a:gd name="adj" fmla="val 1132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59436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sample input near the bottom of example.py.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current output without running the file.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example from the repository root.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only one input value or short sentence.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new route or output, then run again to confirm.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three sentences: what changed, what happened, why.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269480" y="1600200"/>
            <a:ext cx="4251960" cy="4846320"/>
          </a:xfrm>
          <a:prstGeom prst="roundRect">
            <a:avLst>
              <a:gd name="adj" fmla="val 1290"/>
            </a:avLst>
          </a:prstGeom>
          <a:solidFill>
            <a:srgbClr val="3E50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2148840"/>
            <a:ext cx="3886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example in one Python file.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LangGraph directly.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folder or helper package.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uv commands shown — no other package manager.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Ollama call — this session is intentionally deterministic.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07  ·  STATE, MEMORY &amp; PERSISTENCE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You Move 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80160"/>
            <a:ext cx="7498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runs successfully from the repository root.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name the state fields, the node, and the edges.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state vs. short-term memory vs. persistence.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say why two thread IDs keep two users' data separate.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503920" y="1280160"/>
            <a:ext cx="3017520" cy="4572000"/>
          </a:xfrm>
          <a:prstGeom prst="roundRect">
            <a:avLst>
              <a:gd name="adj" fmla="val 1818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3252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USEFUL LINKS</a:t>
            </a:r>
            <a:endParaRPr lang="en-US" sz="1000" dirty="0"/>
          </a:p>
        </p:txBody>
      </p:sp>
      <p:sp>
        <p:nvSpPr>
          <p:cNvPr id="6" name="Text 4">
            <a:hlinkClick r:id="rId1" tooltip=""/>
          </p:cNvPr>
          <p:cNvSpPr txBox="1"/>
          <p:nvPr/>
        </p:nvSpPr>
        <p:spPr>
          <a:xfrm>
            <a:off x="873252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 7 README</a:t>
            </a:r>
            <a:endParaRPr lang="en-US" sz="1150" dirty="0"/>
          </a:p>
        </p:txBody>
      </p:sp>
      <p:sp>
        <p:nvSpPr>
          <p:cNvPr id="7" name="Text 5">
            <a:hlinkClick r:id="rId2" tooltip="" action="ppaction://hlinksldjump"/>
          </p:cNvPr>
          <p:cNvSpPr txBox="1"/>
          <p:nvPr/>
        </p:nvSpPr>
        <p:spPr>
          <a:xfrm>
            <a:off x="685800" y="6126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agenda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503920" y="598932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D9932B"/>
          </a:solidFill>
          <a:ln/>
        </p:spPr>
      </p:sp>
      <p:sp>
        <p:nvSpPr>
          <p:cNvPr id="9" name="Text 7">
            <a:hlinkClick r:id="rId3" tooltip=""/>
          </p:cNvPr>
          <p:cNvSpPr txBox="1"/>
          <p:nvPr/>
        </p:nvSpPr>
        <p:spPr>
          <a:xfrm>
            <a:off x="8503920" y="5989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Day 8  →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 · Five Chatbot Flavors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memory — example_chatbot_no_state.py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9966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checkpointer, so graph.invoke() starts from empty state every call. Introduce yourself, then ask “What is my name?” and the model has no idea — a live demo, not just a printed message.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3217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9676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096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987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In-memory — example_chatbot_with_state.py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371088"/>
            <a:ext cx="9966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InMemorySaver plus a fixed thread_id. The same running loop now correctly answers “What is my name?” — but that memory disappears the moment the process exits.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59333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75792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757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6482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Persistent — example_chatbot_sqlite.py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5032248"/>
            <a:ext cx="9966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SqliteSaver writes every checkpoint to day7_chatbot_memory.db on disk. Stop the script and run it again — the conversation picks up exactly where it left off.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07  ·  STATE, MEMORY &amp; PERSISTENCE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 · Streamlit &amp; Gradio UIs, Real Replies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 chat — streamlit_ui.py and gradio_ui.py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the compiled graph from example_chatbot_streamlit.py (logic only, no UI code) and renders it with st.chat_input / st.chat_message. Gradio flavor: example_chatbot_gradio_ui.py shows the same graph in a Gradio chat window. Both read the same day7_chatbot_memory.db file, so the terminal and browser chatbots share one saved conversation.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6275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92734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9273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8176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flavor now calls a real model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20166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chatbot files call ollama.chat(model="gpt-oss:120b-cloud") with the running conversation as messages (run ollama signin first), so the memory/no-memory contrast shows up as a genuinely right or wrong answer — not a placeholder count.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07  ·  STATE, MEMORY &amp; PERSISTENCE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 · Try the Chatbots Yourself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6400800" cy="5394960"/>
          </a:xfrm>
          <a:prstGeom prst="roundRect">
            <a:avLst>
              <a:gd name="adj" fmla="val 1017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1887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to compare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5087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chatbot node, three checkpointer choices: none / InMemorySaver / SqliteSaver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5943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example_chatbot_no_state.py — introduce yourself, then ask “What is my name?” — it won’t know.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example_chatbot_with_state.py — the same question now works, because of the checkpointer.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example_chatbot_sqlite.py, type quit, run it again — it still remembers you.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Streamlit UI (or the Gradio UI, example_chatbot_gradio_ui.py) to chat in a browser instead of the terminal.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269480" y="1051560"/>
            <a:ext cx="4251960" cy="5394960"/>
          </a:xfrm>
          <a:prstGeom prst="roundRect">
            <a:avLst>
              <a:gd name="adj" fmla="val 1290"/>
            </a:avLst>
          </a:prstGeom>
          <a:solidFill>
            <a:srgbClr val="1417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QUESTION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6002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bonus chatbots call Ollama live (gpt-oss:120b-cloud, so run ollama signin first), unlike example.py — wording varies each run; only the memory behavior is guaranteed to repeat.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IT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4023360"/>
            <a:ext cx="3840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Day-07-State-Memory-Persistence\bonus\example_chatbot_sqlite.py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streamlit run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Day-07-State-Memory-Persistence\bonus\example_chatbot_streamlit_ui.py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07  ·  STATE, MEMORY &amp; PERSISTENCE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L2 Agent Engineering</dc:creator>
  <cp:lastModifiedBy>L2 Agent Engineering</cp:lastModifiedBy>
  <cp:revision>1</cp:revision>
  <dcterms:created xsi:type="dcterms:W3CDTF">2026-09-07T10:04:29Z</dcterms:created>
  <dcterms:modified xsi:type="dcterms:W3CDTF">2026-09-07T10:04:29Z</dcterms:modified>
</cp:coreProperties>
</file>